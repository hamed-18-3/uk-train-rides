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DM Sans" charset="1" panose="00000000000000000000"/>
      <p:regular r:id="rId26"/>
    </p:embeddedFont>
    <p:embeddedFont>
      <p:font typeface="DM Sans Italics" charset="1" panose="00000000000000000000"/>
      <p:regular r:id="rId29"/>
    </p:embeddedFont>
    <p:embeddedFont>
      <p:font typeface="DM Sans Bold" charset="1" panose="00000000000000000000"/>
      <p:regular r:id="rId31"/>
    </p:embeddedFont>
    <p:embeddedFont>
      <p:font typeface="DM Sans Bold Italics" charset="1" panose="00000000000000000000"/>
      <p:regular r:id="rId34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13.png" Type="http://schemas.openxmlformats.org/officeDocument/2006/relationships/image"/><Relationship Id="rId12" Target="../media/image14.jpe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19" Target="../media/image65.pn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66.sv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77.png" Type="http://schemas.openxmlformats.org/officeDocument/2006/relationships/image"/><Relationship Id="rId14" Target="../media/image78.svg" Type="http://schemas.openxmlformats.org/officeDocument/2006/relationships/image"/><Relationship Id="rId15" Target="../media/image79.png" Type="http://schemas.openxmlformats.org/officeDocument/2006/relationships/image"/><Relationship Id="rId16" Target="../media/image80.svg" Type="http://schemas.openxmlformats.org/officeDocument/2006/relationships/image"/><Relationship Id="rId17" Target="../media/image81.png" Type="http://schemas.openxmlformats.org/officeDocument/2006/relationships/image"/><Relationship Id="rId18" Target="../media/image82.svg" Type="http://schemas.openxmlformats.org/officeDocument/2006/relationships/image"/><Relationship Id="rId19" Target="../media/image83.pn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84.svg" Type="http://schemas.openxmlformats.org/officeDocument/2006/relationships/image"/><Relationship Id="rId21" Target="../media/image85.png" Type="http://schemas.openxmlformats.org/officeDocument/2006/relationships/image"/><Relationship Id="rId22" Target="../media/image86.svg" Type="http://schemas.openxmlformats.org/officeDocument/2006/relationships/image"/><Relationship Id="rId23" Target="../media/image87.png" Type="http://schemas.openxmlformats.org/officeDocument/2006/relationships/image"/><Relationship Id="rId24" Target="../media/image88.svg" Type="http://schemas.openxmlformats.org/officeDocument/2006/relationships/image"/><Relationship Id="rId25" Target="../media/image89.png" Type="http://schemas.openxmlformats.org/officeDocument/2006/relationships/image"/><Relationship Id="rId26" Target="../media/image90.svg" Type="http://schemas.openxmlformats.org/officeDocument/2006/relationships/image"/><Relationship Id="rId27" Target="../media/image91.png" Type="http://schemas.openxmlformats.org/officeDocument/2006/relationships/image"/><Relationship Id="rId28" Target="../media/image92.svg" Type="http://schemas.openxmlformats.org/officeDocument/2006/relationships/image"/><Relationship Id="rId29" Target="../media/image93.png" Type="http://schemas.openxmlformats.org/officeDocument/2006/relationships/image"/><Relationship Id="rId3" Target="../media/image67.png" Type="http://schemas.openxmlformats.org/officeDocument/2006/relationships/image"/><Relationship Id="rId30" Target="../media/image94.svg" Type="http://schemas.openxmlformats.org/officeDocument/2006/relationships/image"/><Relationship Id="rId31" Target="../media/image95.png" Type="http://schemas.openxmlformats.org/officeDocument/2006/relationships/image"/><Relationship Id="rId32" Target="../media/image96.svg" Type="http://schemas.openxmlformats.org/officeDocument/2006/relationships/image"/><Relationship Id="rId33" Target="../media/image97.png" Type="http://schemas.openxmlformats.org/officeDocument/2006/relationships/image"/><Relationship Id="rId34" Target="../media/image98.svg" Type="http://schemas.openxmlformats.org/officeDocument/2006/relationships/image"/><Relationship Id="rId35" Target="../media/image99.png" Type="http://schemas.openxmlformats.org/officeDocument/2006/relationships/image"/><Relationship Id="rId36" Target="../media/image100.svg" Type="http://schemas.openxmlformats.org/officeDocument/2006/relationships/image"/><Relationship Id="rId37" Target="../media/image101.png" Type="http://schemas.openxmlformats.org/officeDocument/2006/relationships/image"/><Relationship Id="rId38" Target="../media/image102.sv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3.png" Type="http://schemas.openxmlformats.org/officeDocument/2006/relationships/image"/><Relationship Id="rId4" Target="../media/image104.svg" Type="http://schemas.openxmlformats.org/officeDocument/2006/relationships/image"/><Relationship Id="rId5" Target="../media/image105.png" Type="http://schemas.openxmlformats.org/officeDocument/2006/relationships/image"/><Relationship Id="rId6" Target="../media/image10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89229" y="-5495049"/>
            <a:ext cx="24557438" cy="20951608"/>
          </a:xfrm>
          <a:custGeom>
            <a:avLst/>
            <a:gdLst/>
            <a:ahLst/>
            <a:cxnLst/>
            <a:rect r="r" b="b" t="t" l="l"/>
            <a:pathLst>
              <a:path h="20951608" w="24557438">
                <a:moveTo>
                  <a:pt x="0" y="0"/>
                </a:moveTo>
                <a:lnTo>
                  <a:pt x="24557438" y="0"/>
                </a:lnTo>
                <a:lnTo>
                  <a:pt x="24557438" y="20951608"/>
                </a:lnTo>
                <a:lnTo>
                  <a:pt x="0" y="20951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60050" y="919000"/>
            <a:ext cx="2524200" cy="700800"/>
            <a:chOff x="0" y="0"/>
            <a:chExt cx="3365600" cy="93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5627" cy="934466"/>
            </a:xfrm>
            <a:custGeom>
              <a:avLst/>
              <a:gdLst/>
              <a:ahLst/>
              <a:cxnLst/>
              <a:rect r="r" b="b" t="t" l="l"/>
              <a:pathLst>
                <a:path h="934466" w="3365627">
                  <a:moveTo>
                    <a:pt x="0" y="467233"/>
                  </a:moveTo>
                  <a:cubicBezTo>
                    <a:pt x="0" y="209169"/>
                    <a:pt x="209169" y="0"/>
                    <a:pt x="467233" y="0"/>
                  </a:cubicBezTo>
                  <a:lnTo>
                    <a:pt x="2898394" y="0"/>
                  </a:lnTo>
                  <a:cubicBezTo>
                    <a:pt x="3156458" y="0"/>
                    <a:pt x="3365627" y="209169"/>
                    <a:pt x="3365627" y="467233"/>
                  </a:cubicBezTo>
                  <a:cubicBezTo>
                    <a:pt x="3365627" y="725297"/>
                    <a:pt x="3156458" y="934466"/>
                    <a:pt x="2898394" y="934466"/>
                  </a:cubicBezTo>
                  <a:lnTo>
                    <a:pt x="467233" y="934466"/>
                  </a:lnTo>
                  <a:cubicBezTo>
                    <a:pt x="209169" y="934339"/>
                    <a:pt x="0" y="725170"/>
                    <a:pt x="0" y="467233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531344" y="1520872"/>
            <a:ext cx="6493598" cy="6893272"/>
          </a:xfrm>
          <a:custGeom>
            <a:avLst/>
            <a:gdLst/>
            <a:ahLst/>
            <a:cxnLst/>
            <a:rect r="r" b="b" t="t" l="l"/>
            <a:pathLst>
              <a:path h="6893272" w="6493598">
                <a:moveTo>
                  <a:pt x="0" y="0"/>
                </a:moveTo>
                <a:lnTo>
                  <a:pt x="6493598" y="0"/>
                </a:lnTo>
                <a:lnTo>
                  <a:pt x="6493598" y="6893272"/>
                </a:lnTo>
                <a:lnTo>
                  <a:pt x="0" y="68932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7875" y="6043726"/>
            <a:ext cx="7542150" cy="19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2"/>
              </a:lnSpc>
            </a:pPr>
            <a:r>
              <a:rPr lang="en-US" b="true" sz="6400">
                <a:solidFill>
                  <a:srgbClr val="334157"/>
                </a:solidFill>
                <a:latin typeface="Poppins Bold"/>
                <a:ea typeface="Poppins Bold"/>
                <a:cs typeface="Poppins Bold"/>
                <a:sym typeface="Poppins Bold"/>
              </a:rPr>
              <a:t>Uk Railways journeys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26075" y="982316"/>
            <a:ext cx="1992150" cy="4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69050">
            <a:off x="2825833" y="-118172"/>
            <a:ext cx="14927051" cy="11230460"/>
          </a:xfrm>
          <a:custGeom>
            <a:avLst/>
            <a:gdLst/>
            <a:ahLst/>
            <a:cxnLst/>
            <a:rect r="r" b="b" t="t" l="l"/>
            <a:pathLst>
              <a:path h="11230460" w="14927051">
                <a:moveTo>
                  <a:pt x="0" y="0"/>
                </a:moveTo>
                <a:lnTo>
                  <a:pt x="14927051" y="0"/>
                </a:lnTo>
                <a:lnTo>
                  <a:pt x="14927051" y="11230460"/>
                </a:lnTo>
                <a:lnTo>
                  <a:pt x="0" y="11230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01572" y="351066"/>
            <a:ext cx="1255200" cy="1775648"/>
          </a:xfrm>
          <a:custGeom>
            <a:avLst/>
            <a:gdLst/>
            <a:ahLst/>
            <a:cxnLst/>
            <a:rect r="r" b="b" t="t" l="l"/>
            <a:pathLst>
              <a:path h="1775648" w="1255200">
                <a:moveTo>
                  <a:pt x="0" y="0"/>
                </a:moveTo>
                <a:lnTo>
                  <a:pt x="1255200" y="0"/>
                </a:lnTo>
                <a:lnTo>
                  <a:pt x="1255200" y="1775648"/>
                </a:lnTo>
                <a:lnTo>
                  <a:pt x="0" y="1775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8768" y="3963704"/>
            <a:ext cx="2501170" cy="2591502"/>
            <a:chOff x="0" y="0"/>
            <a:chExt cx="3334893" cy="3455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Hamed Abdelaziz</a:t>
              </a: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00902" y="3904931"/>
            <a:ext cx="2501170" cy="2591502"/>
            <a:chOff x="0" y="0"/>
            <a:chExt cx="3334893" cy="3455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Ethar Mostafa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28002" y="3963704"/>
            <a:ext cx="2501170" cy="2591502"/>
            <a:chOff x="0" y="0"/>
            <a:chExt cx="3334893" cy="34553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Shahd Mohamed</a:t>
              </a: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10219" y="3904931"/>
            <a:ext cx="2501170" cy="2591502"/>
            <a:chOff x="0" y="0"/>
            <a:chExt cx="3334893" cy="34553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Mohamed Saber</a:t>
              </a: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73801" y="3904931"/>
            <a:ext cx="2501170" cy="2591502"/>
            <a:chOff x="0" y="0"/>
            <a:chExt cx="3334893" cy="34553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Amira Reda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42350" y="3963704"/>
            <a:ext cx="2501170" cy="2591502"/>
            <a:chOff x="0" y="0"/>
            <a:chExt cx="3334893" cy="34553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00392" y="0"/>
              <a:ext cx="2734109" cy="2715759"/>
            </a:xfrm>
            <a:custGeom>
              <a:avLst/>
              <a:gdLst/>
              <a:ahLst/>
              <a:cxnLst/>
              <a:rect r="r" b="b" t="t" l="l"/>
              <a:pathLst>
                <a:path h="2715759" w="2734109">
                  <a:moveTo>
                    <a:pt x="0" y="0"/>
                  </a:moveTo>
                  <a:lnTo>
                    <a:pt x="2734109" y="0"/>
                  </a:lnTo>
                  <a:lnTo>
                    <a:pt x="2734109" y="2715759"/>
                  </a:lnTo>
                  <a:lnTo>
                    <a:pt x="0" y="271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957244"/>
              <a:ext cx="3334893" cy="49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Ahmed Sayed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31425" y="3963704"/>
            <a:ext cx="2006100" cy="2007463"/>
            <a:chOff x="0" y="0"/>
            <a:chExt cx="892291" cy="8928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2291" cy="892898"/>
            </a:xfrm>
            <a:custGeom>
              <a:avLst/>
              <a:gdLst/>
              <a:ahLst/>
              <a:cxnLst/>
              <a:rect r="r" b="b" t="t" l="l"/>
              <a:pathLst>
                <a:path h="892898" w="892291">
                  <a:moveTo>
                    <a:pt x="446146" y="0"/>
                  </a:moveTo>
                  <a:cubicBezTo>
                    <a:pt x="199746" y="0"/>
                    <a:pt x="0" y="199882"/>
                    <a:pt x="0" y="446449"/>
                  </a:cubicBezTo>
                  <a:cubicBezTo>
                    <a:pt x="0" y="693016"/>
                    <a:pt x="199746" y="892898"/>
                    <a:pt x="446146" y="892898"/>
                  </a:cubicBezTo>
                  <a:cubicBezTo>
                    <a:pt x="692545" y="892898"/>
                    <a:pt x="892291" y="693016"/>
                    <a:pt x="892291" y="446449"/>
                  </a:cubicBezTo>
                  <a:cubicBezTo>
                    <a:pt x="892291" y="199882"/>
                    <a:pt x="692545" y="0"/>
                    <a:pt x="446146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804" r="0" b="-1280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66693" y="3963704"/>
            <a:ext cx="2038701" cy="2007463"/>
            <a:chOff x="0" y="0"/>
            <a:chExt cx="906792" cy="8928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6792" cy="892898"/>
            </a:xfrm>
            <a:custGeom>
              <a:avLst/>
              <a:gdLst/>
              <a:ahLst/>
              <a:cxnLst/>
              <a:rect r="r" b="b" t="t" l="l"/>
              <a:pathLst>
                <a:path h="892898" w="906792">
                  <a:moveTo>
                    <a:pt x="453396" y="0"/>
                  </a:moveTo>
                  <a:cubicBezTo>
                    <a:pt x="202992" y="0"/>
                    <a:pt x="0" y="199882"/>
                    <a:pt x="0" y="446449"/>
                  </a:cubicBezTo>
                  <a:cubicBezTo>
                    <a:pt x="0" y="693016"/>
                    <a:pt x="202992" y="892898"/>
                    <a:pt x="453396" y="892898"/>
                  </a:cubicBezTo>
                  <a:cubicBezTo>
                    <a:pt x="703800" y="892898"/>
                    <a:pt x="906792" y="693016"/>
                    <a:pt x="906792" y="446449"/>
                  </a:cubicBezTo>
                  <a:cubicBezTo>
                    <a:pt x="906792" y="199882"/>
                    <a:pt x="703800" y="0"/>
                    <a:pt x="453396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7144" r="0" b="-1714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1171" y="3904931"/>
            <a:ext cx="2020632" cy="2007463"/>
            <a:chOff x="0" y="0"/>
            <a:chExt cx="898755" cy="8928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8755" cy="892898"/>
            </a:xfrm>
            <a:custGeom>
              <a:avLst/>
              <a:gdLst/>
              <a:ahLst/>
              <a:cxnLst/>
              <a:rect r="r" b="b" t="t" l="l"/>
              <a:pathLst>
                <a:path h="892898" w="898755">
                  <a:moveTo>
                    <a:pt x="449378" y="0"/>
                  </a:moveTo>
                  <a:cubicBezTo>
                    <a:pt x="201193" y="0"/>
                    <a:pt x="0" y="199882"/>
                    <a:pt x="0" y="446449"/>
                  </a:cubicBezTo>
                  <a:cubicBezTo>
                    <a:pt x="0" y="693016"/>
                    <a:pt x="201193" y="892898"/>
                    <a:pt x="449378" y="892898"/>
                  </a:cubicBezTo>
                  <a:cubicBezTo>
                    <a:pt x="697562" y="892898"/>
                    <a:pt x="898755" y="693016"/>
                    <a:pt x="898755" y="446449"/>
                  </a:cubicBezTo>
                  <a:cubicBezTo>
                    <a:pt x="898755" y="199882"/>
                    <a:pt x="697562" y="0"/>
                    <a:pt x="449378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0524" r="0" b="-3052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19004" y="3875545"/>
            <a:ext cx="2010423" cy="2066236"/>
            <a:chOff x="0" y="0"/>
            <a:chExt cx="894214" cy="9190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4214" cy="919039"/>
            </a:xfrm>
            <a:custGeom>
              <a:avLst/>
              <a:gdLst/>
              <a:ahLst/>
              <a:cxnLst/>
              <a:rect r="r" b="b" t="t" l="l"/>
              <a:pathLst>
                <a:path h="919039" w="894214">
                  <a:moveTo>
                    <a:pt x="447107" y="0"/>
                  </a:moveTo>
                  <a:cubicBezTo>
                    <a:pt x="200177" y="0"/>
                    <a:pt x="0" y="205734"/>
                    <a:pt x="0" y="459520"/>
                  </a:cubicBezTo>
                  <a:cubicBezTo>
                    <a:pt x="0" y="713305"/>
                    <a:pt x="200177" y="919039"/>
                    <a:pt x="447107" y="919039"/>
                  </a:cubicBezTo>
                  <a:cubicBezTo>
                    <a:pt x="694038" y="919039"/>
                    <a:pt x="894214" y="713305"/>
                    <a:pt x="894214" y="459520"/>
                  </a:cubicBezTo>
                  <a:cubicBezTo>
                    <a:pt x="894214" y="205734"/>
                    <a:pt x="694038" y="0"/>
                    <a:pt x="447107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12547" r="0" b="-5777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92133" y="3904931"/>
            <a:ext cx="1737343" cy="2007463"/>
            <a:chOff x="0" y="0"/>
            <a:chExt cx="772751" cy="8928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2751" cy="892898"/>
            </a:xfrm>
            <a:custGeom>
              <a:avLst/>
              <a:gdLst/>
              <a:ahLst/>
              <a:cxnLst/>
              <a:rect r="r" b="b" t="t" l="l"/>
              <a:pathLst>
                <a:path h="892898" w="772751">
                  <a:moveTo>
                    <a:pt x="386376" y="0"/>
                  </a:moveTo>
                  <a:cubicBezTo>
                    <a:pt x="172986" y="0"/>
                    <a:pt x="0" y="199882"/>
                    <a:pt x="0" y="446449"/>
                  </a:cubicBezTo>
                  <a:cubicBezTo>
                    <a:pt x="0" y="693016"/>
                    <a:pt x="172986" y="892898"/>
                    <a:pt x="386376" y="892898"/>
                  </a:cubicBezTo>
                  <a:cubicBezTo>
                    <a:pt x="599765" y="892898"/>
                    <a:pt x="772751" y="693016"/>
                    <a:pt x="772751" y="446449"/>
                  </a:cubicBezTo>
                  <a:cubicBezTo>
                    <a:pt x="772751" y="199882"/>
                    <a:pt x="599765" y="0"/>
                    <a:pt x="386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64021" y="3963704"/>
            <a:ext cx="2040807" cy="2016876"/>
            <a:chOff x="0" y="0"/>
            <a:chExt cx="903492" cy="8928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3492" cy="892898"/>
            </a:xfrm>
            <a:custGeom>
              <a:avLst/>
              <a:gdLst/>
              <a:ahLst/>
              <a:cxnLst/>
              <a:rect r="r" b="b" t="t" l="l"/>
              <a:pathLst>
                <a:path h="892898" w="903492">
                  <a:moveTo>
                    <a:pt x="451746" y="0"/>
                  </a:moveTo>
                  <a:cubicBezTo>
                    <a:pt x="202254" y="0"/>
                    <a:pt x="0" y="199882"/>
                    <a:pt x="0" y="446449"/>
                  </a:cubicBezTo>
                  <a:cubicBezTo>
                    <a:pt x="0" y="693016"/>
                    <a:pt x="202254" y="892898"/>
                    <a:pt x="451746" y="892898"/>
                  </a:cubicBezTo>
                  <a:cubicBezTo>
                    <a:pt x="701239" y="892898"/>
                    <a:pt x="903492" y="693016"/>
                    <a:pt x="903492" y="446449"/>
                  </a:cubicBezTo>
                  <a:cubicBezTo>
                    <a:pt x="903492" y="199882"/>
                    <a:pt x="701239" y="0"/>
                    <a:pt x="451746" y="0"/>
                  </a:cubicBezTo>
                  <a:close/>
                </a:path>
              </a:pathLst>
            </a:custGeom>
            <a:blipFill>
              <a:blip r:embed="rId12"/>
              <a:stretch>
                <a:fillRect l="-8859" t="0" r="-8859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531425" y="2193936"/>
            <a:ext cx="1522515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7982" y="-2989746"/>
            <a:ext cx="24404519" cy="18492436"/>
          </a:xfrm>
          <a:custGeom>
            <a:avLst/>
            <a:gdLst/>
            <a:ahLst/>
            <a:cxnLst/>
            <a:rect r="r" b="b" t="t" l="l"/>
            <a:pathLst>
              <a:path h="18492436" w="24404519">
                <a:moveTo>
                  <a:pt x="0" y="0"/>
                </a:moveTo>
                <a:lnTo>
                  <a:pt x="24404519" y="0"/>
                </a:lnTo>
                <a:lnTo>
                  <a:pt x="24404519" y="18492436"/>
                </a:lnTo>
                <a:lnTo>
                  <a:pt x="0" y="18492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3372" y="6446174"/>
            <a:ext cx="3480188" cy="3635140"/>
          </a:xfrm>
          <a:custGeom>
            <a:avLst/>
            <a:gdLst/>
            <a:ahLst/>
            <a:cxnLst/>
            <a:rect r="r" b="b" t="t" l="l"/>
            <a:pathLst>
              <a:path h="3635140" w="3480188">
                <a:moveTo>
                  <a:pt x="0" y="0"/>
                </a:moveTo>
                <a:lnTo>
                  <a:pt x="3480188" y="0"/>
                </a:lnTo>
                <a:lnTo>
                  <a:pt x="3480188" y="3635140"/>
                </a:lnTo>
                <a:lnTo>
                  <a:pt x="0" y="3635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924325"/>
            <a:ext cx="1522515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75618"/>
            <a:ext cx="15727875" cy="775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Goal: Turn complex UK railway data into actionable insights to improve operations, revenue, and passenger experience.</a:t>
            </a:r>
          </a:p>
          <a:p>
            <a:pPr algn="l">
              <a:lnSpc>
                <a:spcPts val="3863"/>
              </a:lnSpc>
            </a:pP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Scope &amp; Highlights: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Processed 70K+ records: trips, tickets, delays, cancellations, revenue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Built data model linking trips, stations, ticket types, payments, KPIs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Developed interactive dashboards showing:</a:t>
            </a:r>
          </a:p>
          <a:p>
            <a:pPr algn="l" marL="1209039" indent="-403013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Revenue trends &amp; top routes</a:t>
            </a:r>
          </a:p>
          <a:p>
            <a:pPr algn="l" marL="1209039" indent="-403013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On-time performance &amp; delay causes</a:t>
            </a:r>
          </a:p>
          <a:p>
            <a:pPr algn="l" marL="1209039" indent="-403013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Booking patterns &amp; payment methods</a:t>
            </a:r>
          </a:p>
          <a:p>
            <a:pPr algn="l" marL="1209039" indent="-403013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Passenger activity &amp; refunds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Achievements: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Identified key causes of delays &amp; cancellations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Highlighted most profitable tickets &amp; routes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Delivered data-driven insights for decision-making</a:t>
            </a:r>
          </a:p>
          <a:p>
            <a:pPr algn="l">
              <a:lnSpc>
                <a:spcPts val="386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514" y="-4471171"/>
            <a:ext cx="16569330" cy="16569330"/>
          </a:xfrm>
          <a:custGeom>
            <a:avLst/>
            <a:gdLst/>
            <a:ahLst/>
            <a:cxnLst/>
            <a:rect r="r" b="b" t="t" l="l"/>
            <a:pathLst>
              <a:path h="16569330" w="16569330">
                <a:moveTo>
                  <a:pt x="0" y="0"/>
                </a:moveTo>
                <a:lnTo>
                  <a:pt x="16569329" y="0"/>
                </a:lnTo>
                <a:lnTo>
                  <a:pt x="16569329" y="16569329"/>
                </a:lnTo>
                <a:lnTo>
                  <a:pt x="0" y="16569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226" t="0" r="-1822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8858" y="7966242"/>
            <a:ext cx="3055018" cy="2664224"/>
          </a:xfrm>
          <a:custGeom>
            <a:avLst/>
            <a:gdLst/>
            <a:ahLst/>
            <a:cxnLst/>
            <a:rect r="r" b="b" t="t" l="l"/>
            <a:pathLst>
              <a:path h="2664224" w="3055018">
                <a:moveTo>
                  <a:pt x="0" y="0"/>
                </a:moveTo>
                <a:lnTo>
                  <a:pt x="3055018" y="0"/>
                </a:lnTo>
                <a:lnTo>
                  <a:pt x="3055018" y="2664224"/>
                </a:lnTo>
                <a:lnTo>
                  <a:pt x="0" y="2664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1425" y="2442655"/>
            <a:ext cx="7063350" cy="1370838"/>
            <a:chOff x="0" y="0"/>
            <a:chExt cx="9417800" cy="182778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5362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773600" y="-104775"/>
              <a:ext cx="7644200" cy="1932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Data Exploration</a:t>
              </a:r>
            </a:p>
            <a:p>
              <a:pPr algn="l">
                <a:lnSpc>
                  <a:spcPts val="579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1425" y="914800"/>
            <a:ext cx="1522515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C69B2"/>
                </a:solidFill>
                <a:latin typeface="Poppins"/>
                <a:ea typeface="Poppins"/>
                <a:cs typeface="Poppins"/>
                <a:sym typeface="Poppins"/>
              </a:rPr>
              <a:t>Proj</a:t>
            </a:r>
            <a:r>
              <a:rPr lang="en-US" sz="6000">
                <a:solidFill>
                  <a:srgbClr val="4C69B2"/>
                </a:solidFill>
                <a:latin typeface="Poppins"/>
                <a:ea typeface="Poppins"/>
                <a:cs typeface="Poppins"/>
                <a:sym typeface="Poppins"/>
              </a:rPr>
              <a:t>ect Phases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99379" y="2442655"/>
            <a:ext cx="7157196" cy="1370838"/>
            <a:chOff x="0" y="0"/>
            <a:chExt cx="9542928" cy="18277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898728" y="-104775"/>
              <a:ext cx="7644200" cy="1932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D</a:t>
              </a: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ata Cleaning</a:t>
              </a:r>
            </a:p>
            <a:p>
              <a:pPr algn="l">
                <a:lnSpc>
                  <a:spcPts val="5795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15298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1425" y="4450904"/>
            <a:ext cx="7157885" cy="1370838"/>
            <a:chOff x="0" y="0"/>
            <a:chExt cx="9543847" cy="182778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5362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99647" y="-104775"/>
              <a:ext cx="7644200" cy="1932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Fea</a:t>
              </a: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ture Engineering &amp; EDA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99379" y="4458081"/>
            <a:ext cx="7157196" cy="1370838"/>
            <a:chOff x="0" y="0"/>
            <a:chExt cx="9542928" cy="182778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15298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898728" y="-104775"/>
              <a:ext cx="7644200" cy="1932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 Dat</a:t>
              </a: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a Modeling</a:t>
              </a:r>
            </a:p>
            <a:p>
              <a:pPr algn="l">
                <a:lnSpc>
                  <a:spcPts val="579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71512" y="6881352"/>
            <a:ext cx="13235596" cy="1370838"/>
            <a:chOff x="0" y="0"/>
            <a:chExt cx="17647461" cy="182778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66675"/>
              <a:ext cx="15298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4C69B2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899647" y="-104775"/>
              <a:ext cx="15747814" cy="1932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95"/>
                </a:lnSpc>
              </a:pP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Visualization &amp; Dashb</a:t>
              </a:r>
              <a:r>
                <a:rPr lang="en-US" sz="4200">
                  <a:solidFill>
                    <a:srgbClr val="334157"/>
                  </a:solidFill>
                  <a:latin typeface="Poppins"/>
                  <a:ea typeface="Poppins"/>
                  <a:cs typeface="Poppins"/>
                  <a:sym typeface="Poppins"/>
                </a:rPr>
                <a:t>oard Development</a:t>
              </a:r>
            </a:p>
            <a:p>
              <a:pPr algn="l">
                <a:lnSpc>
                  <a:spcPts val="579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4" y="-3908671"/>
            <a:ext cx="22793852" cy="16369030"/>
          </a:xfrm>
          <a:custGeom>
            <a:avLst/>
            <a:gdLst/>
            <a:ahLst/>
            <a:cxnLst/>
            <a:rect r="r" b="b" t="t" l="l"/>
            <a:pathLst>
              <a:path h="16369030" w="22793852">
                <a:moveTo>
                  <a:pt x="0" y="0"/>
                </a:moveTo>
                <a:lnTo>
                  <a:pt x="22793851" y="0"/>
                </a:lnTo>
                <a:lnTo>
                  <a:pt x="22793851" y="16369029"/>
                </a:lnTo>
                <a:lnTo>
                  <a:pt x="0" y="1636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2" y="473158"/>
            <a:ext cx="3427045" cy="2513716"/>
          </a:xfrm>
          <a:custGeom>
            <a:avLst/>
            <a:gdLst/>
            <a:ahLst/>
            <a:cxnLst/>
            <a:rect r="r" b="b" t="t" l="l"/>
            <a:pathLst>
              <a:path h="2513716" w="3427045">
                <a:moveTo>
                  <a:pt x="0" y="0"/>
                </a:moveTo>
                <a:lnTo>
                  <a:pt x="3427045" y="0"/>
                </a:lnTo>
                <a:lnTo>
                  <a:pt x="3427045" y="2513716"/>
                </a:lnTo>
                <a:lnTo>
                  <a:pt x="0" y="2513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504" y="705040"/>
            <a:ext cx="17097024" cy="8965160"/>
          </a:xfrm>
          <a:custGeom>
            <a:avLst/>
            <a:gdLst/>
            <a:ahLst/>
            <a:cxnLst/>
            <a:rect r="r" b="b" t="t" l="l"/>
            <a:pathLst>
              <a:path h="8965160" w="17097024">
                <a:moveTo>
                  <a:pt x="0" y="0"/>
                </a:moveTo>
                <a:lnTo>
                  <a:pt x="17097024" y="0"/>
                </a:lnTo>
                <a:lnTo>
                  <a:pt x="17097024" y="8965160"/>
                </a:lnTo>
                <a:lnTo>
                  <a:pt x="0" y="8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729016" y="1467250"/>
            <a:ext cx="7536316" cy="3915684"/>
            <a:chOff x="0" y="0"/>
            <a:chExt cx="1657619" cy="8612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7622" cy="861258"/>
            </a:xfrm>
            <a:custGeom>
              <a:avLst/>
              <a:gdLst/>
              <a:ahLst/>
              <a:cxnLst/>
              <a:rect r="r" b="b" t="t" l="l"/>
              <a:pathLst>
                <a:path h="861258" w="1657622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649" r="0" b="-364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22087" y="5461987"/>
            <a:ext cx="8099332" cy="4208213"/>
            <a:chOff x="0" y="0"/>
            <a:chExt cx="1657619" cy="8612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7622" cy="861258"/>
            </a:xfrm>
            <a:custGeom>
              <a:avLst/>
              <a:gdLst/>
              <a:ahLst/>
              <a:cxnLst/>
              <a:rect r="r" b="b" t="t" l="l"/>
              <a:pathLst>
                <a:path h="861258" w="1657622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10"/>
              <a:stretch>
                <a:fillRect l="-20212" t="0" r="-2021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971550"/>
            <a:ext cx="853755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 Data Exploration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39249"/>
            <a:ext cx="8537550" cy="484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Loaded and inspected raw data </a:t>
            </a:r>
          </a:p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</a:t>
            </a: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(df.info(), df.head())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Checked data types and missing values </a:t>
            </a: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(df.dtypes, df.isnull().sum())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Explored unique and repeated values per column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Identified duplicated rows </a:t>
            </a: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(df.duplicated().sum())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Generated initial summary statistic</a:t>
            </a:r>
          </a:p>
          <a:p>
            <a:pPr algn="l">
              <a:lnSpc>
                <a:spcPts val="386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4" y="-3908671"/>
            <a:ext cx="22793852" cy="16369030"/>
          </a:xfrm>
          <a:custGeom>
            <a:avLst/>
            <a:gdLst/>
            <a:ahLst/>
            <a:cxnLst/>
            <a:rect r="r" b="b" t="t" l="l"/>
            <a:pathLst>
              <a:path h="16369030" w="22793852">
                <a:moveTo>
                  <a:pt x="0" y="0"/>
                </a:moveTo>
                <a:lnTo>
                  <a:pt x="22793851" y="0"/>
                </a:lnTo>
                <a:lnTo>
                  <a:pt x="22793851" y="16369029"/>
                </a:lnTo>
                <a:lnTo>
                  <a:pt x="0" y="1636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2" y="473158"/>
            <a:ext cx="3427045" cy="2513716"/>
          </a:xfrm>
          <a:custGeom>
            <a:avLst/>
            <a:gdLst/>
            <a:ahLst/>
            <a:cxnLst/>
            <a:rect r="r" b="b" t="t" l="l"/>
            <a:pathLst>
              <a:path h="2513716" w="3427045">
                <a:moveTo>
                  <a:pt x="0" y="0"/>
                </a:moveTo>
                <a:lnTo>
                  <a:pt x="3427045" y="0"/>
                </a:lnTo>
                <a:lnTo>
                  <a:pt x="3427045" y="2513716"/>
                </a:lnTo>
                <a:lnTo>
                  <a:pt x="0" y="2513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504" y="705040"/>
            <a:ext cx="17097024" cy="8965160"/>
          </a:xfrm>
          <a:custGeom>
            <a:avLst/>
            <a:gdLst/>
            <a:ahLst/>
            <a:cxnLst/>
            <a:rect r="r" b="b" t="t" l="l"/>
            <a:pathLst>
              <a:path h="8965160" w="17097024">
                <a:moveTo>
                  <a:pt x="0" y="0"/>
                </a:moveTo>
                <a:lnTo>
                  <a:pt x="17097024" y="0"/>
                </a:lnTo>
                <a:lnTo>
                  <a:pt x="17097024" y="8965160"/>
                </a:lnTo>
                <a:lnTo>
                  <a:pt x="0" y="8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407578" y="2155300"/>
            <a:ext cx="6711926" cy="67119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3999" t="0" r="-1400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669525"/>
            <a:ext cx="85375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64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Data Cleaning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44400"/>
            <a:ext cx="9040275" cy="452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Converted Time &amp; Date to datetime</a:t>
            </a:r>
          </a:p>
          <a:p>
            <a:pPr algn="ctr">
              <a:lnSpc>
                <a:spcPts val="3450"/>
              </a:lnSpc>
            </a:pPr>
            <a:r>
              <a:rPr lang="en-US" sz="2500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r>
              <a:rPr lang="en-US" sz="2500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df['Time of Purchase'] = pd.to_datetime(df['Time of Purchase'], format='%H:%M:%S')</a:t>
            </a:r>
          </a:p>
          <a:p>
            <a:pPr algn="ctr">
              <a:lnSpc>
                <a:spcPts val="3450"/>
              </a:lnSpc>
            </a:pPr>
            <a:r>
              <a:rPr lang="en-US" sz="2500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df['Date of Purchase'] = pd.to_datetime(df['Date of Purchase'])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Filled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missing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Railcard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val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u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es</a:t>
            </a:r>
          </a:p>
          <a:p>
            <a:pPr algn="ctr">
              <a:lnSpc>
                <a:spcPts val="3588"/>
              </a:lnSpc>
            </a:pPr>
            <a:r>
              <a:rPr lang="en-US" sz="2600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df['Railcard'] = df['Railcard'].fillna('No Railcard')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Data ready for analysis</a:t>
            </a:r>
          </a:p>
          <a:p>
            <a:pPr algn="ctr">
              <a:lnSpc>
                <a:spcPts val="3450"/>
              </a:lnSpc>
            </a:pPr>
            <a:r>
              <a:rPr lang="en-US" sz="2500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  </a:t>
            </a:r>
            <a:r>
              <a:rPr lang="en-US" sz="2500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# Data is now consistent and ready for further step</a:t>
            </a:r>
          </a:p>
          <a:p>
            <a:pPr algn="ctr">
              <a:lnSpc>
                <a:spcPts val="345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4" y="-3908671"/>
            <a:ext cx="22793852" cy="16369030"/>
          </a:xfrm>
          <a:custGeom>
            <a:avLst/>
            <a:gdLst/>
            <a:ahLst/>
            <a:cxnLst/>
            <a:rect r="r" b="b" t="t" l="l"/>
            <a:pathLst>
              <a:path h="16369030" w="22793852">
                <a:moveTo>
                  <a:pt x="0" y="0"/>
                </a:moveTo>
                <a:lnTo>
                  <a:pt x="22793851" y="0"/>
                </a:lnTo>
                <a:lnTo>
                  <a:pt x="22793851" y="16369029"/>
                </a:lnTo>
                <a:lnTo>
                  <a:pt x="0" y="1636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2" y="473158"/>
            <a:ext cx="3427045" cy="2513716"/>
          </a:xfrm>
          <a:custGeom>
            <a:avLst/>
            <a:gdLst/>
            <a:ahLst/>
            <a:cxnLst/>
            <a:rect r="r" b="b" t="t" l="l"/>
            <a:pathLst>
              <a:path h="2513716" w="3427045">
                <a:moveTo>
                  <a:pt x="0" y="0"/>
                </a:moveTo>
                <a:lnTo>
                  <a:pt x="3427045" y="0"/>
                </a:lnTo>
                <a:lnTo>
                  <a:pt x="3427045" y="2513716"/>
                </a:lnTo>
                <a:lnTo>
                  <a:pt x="0" y="2513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504" y="705040"/>
            <a:ext cx="17097024" cy="8965160"/>
          </a:xfrm>
          <a:custGeom>
            <a:avLst/>
            <a:gdLst/>
            <a:ahLst/>
            <a:cxnLst/>
            <a:rect r="r" b="b" t="t" l="l"/>
            <a:pathLst>
              <a:path h="8965160" w="17097024">
                <a:moveTo>
                  <a:pt x="0" y="0"/>
                </a:moveTo>
                <a:lnTo>
                  <a:pt x="17097024" y="0"/>
                </a:lnTo>
                <a:lnTo>
                  <a:pt x="17097024" y="8965160"/>
                </a:lnTo>
                <a:lnTo>
                  <a:pt x="0" y="8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68975" y="2570609"/>
            <a:ext cx="7642339" cy="6473510"/>
            <a:chOff x="0" y="0"/>
            <a:chExt cx="2374900" cy="2011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796" y="-1270"/>
              <a:ext cx="2374505" cy="2007870"/>
            </a:xfrm>
            <a:custGeom>
              <a:avLst/>
              <a:gdLst/>
              <a:ahLst/>
              <a:cxnLst/>
              <a:rect r="r" b="b" t="t" l="l"/>
              <a:pathLst>
                <a:path h="2007870" w="2374505">
                  <a:moveTo>
                    <a:pt x="2374426" y="1776730"/>
                  </a:moveTo>
                  <a:cubicBezTo>
                    <a:pt x="2373156" y="1275080"/>
                    <a:pt x="2357916" y="596900"/>
                    <a:pt x="2357916" y="96520"/>
                  </a:cubicBezTo>
                  <a:cubicBezTo>
                    <a:pt x="2357916" y="88900"/>
                    <a:pt x="2359186" y="81280"/>
                    <a:pt x="2359186" y="74930"/>
                  </a:cubicBezTo>
                  <a:cubicBezTo>
                    <a:pt x="2357916" y="73660"/>
                    <a:pt x="2356646" y="73660"/>
                    <a:pt x="2355376" y="72390"/>
                  </a:cubicBezTo>
                  <a:cubicBezTo>
                    <a:pt x="2355376" y="72390"/>
                    <a:pt x="2354106" y="73660"/>
                    <a:pt x="2354106" y="74930"/>
                  </a:cubicBezTo>
                  <a:cubicBezTo>
                    <a:pt x="2351566" y="81280"/>
                    <a:pt x="2346486" y="81280"/>
                    <a:pt x="2341406" y="81280"/>
                  </a:cubicBezTo>
                  <a:cubicBezTo>
                    <a:pt x="2335056" y="80010"/>
                    <a:pt x="2328706" y="73660"/>
                    <a:pt x="2321086" y="76200"/>
                  </a:cubicBezTo>
                  <a:cubicBezTo>
                    <a:pt x="2318546" y="77470"/>
                    <a:pt x="2313466" y="74930"/>
                    <a:pt x="2312196" y="72390"/>
                  </a:cubicBezTo>
                  <a:cubicBezTo>
                    <a:pt x="2308386" y="67310"/>
                    <a:pt x="2303306" y="67310"/>
                    <a:pt x="2298226" y="69850"/>
                  </a:cubicBezTo>
                  <a:cubicBezTo>
                    <a:pt x="2295686" y="71120"/>
                    <a:pt x="2293146" y="69850"/>
                    <a:pt x="2290606" y="69850"/>
                  </a:cubicBezTo>
                  <a:cubicBezTo>
                    <a:pt x="2286796" y="69850"/>
                    <a:pt x="2281716" y="68580"/>
                    <a:pt x="2277906" y="67310"/>
                  </a:cubicBezTo>
                  <a:cubicBezTo>
                    <a:pt x="2276636" y="67310"/>
                    <a:pt x="2274096" y="66040"/>
                    <a:pt x="2272826" y="66040"/>
                  </a:cubicBezTo>
                  <a:cubicBezTo>
                    <a:pt x="2269016" y="64770"/>
                    <a:pt x="2265206" y="60960"/>
                    <a:pt x="2261396" y="66040"/>
                  </a:cubicBezTo>
                  <a:cubicBezTo>
                    <a:pt x="2261396" y="66040"/>
                    <a:pt x="2258856" y="66040"/>
                    <a:pt x="2257586" y="64770"/>
                  </a:cubicBezTo>
                  <a:cubicBezTo>
                    <a:pt x="2256316" y="62230"/>
                    <a:pt x="2255046" y="58420"/>
                    <a:pt x="2253776" y="55880"/>
                  </a:cubicBezTo>
                  <a:cubicBezTo>
                    <a:pt x="2251236" y="52070"/>
                    <a:pt x="2251236" y="45720"/>
                    <a:pt x="2247426" y="43180"/>
                  </a:cubicBezTo>
                  <a:cubicBezTo>
                    <a:pt x="2244886" y="41910"/>
                    <a:pt x="2243616" y="40640"/>
                    <a:pt x="2242346" y="38100"/>
                  </a:cubicBezTo>
                  <a:cubicBezTo>
                    <a:pt x="2242346" y="36830"/>
                    <a:pt x="2239806" y="35560"/>
                    <a:pt x="2239806" y="34290"/>
                  </a:cubicBezTo>
                  <a:lnTo>
                    <a:pt x="2235996" y="30480"/>
                  </a:lnTo>
                  <a:cubicBezTo>
                    <a:pt x="2234726" y="27940"/>
                    <a:pt x="2233456" y="24130"/>
                    <a:pt x="2230916" y="22860"/>
                  </a:cubicBezTo>
                  <a:cubicBezTo>
                    <a:pt x="2225836" y="19050"/>
                    <a:pt x="2224566" y="13970"/>
                    <a:pt x="2227106" y="7620"/>
                  </a:cubicBezTo>
                  <a:cubicBezTo>
                    <a:pt x="2223296" y="6350"/>
                    <a:pt x="2220756" y="3810"/>
                    <a:pt x="2216946" y="3810"/>
                  </a:cubicBezTo>
                  <a:cubicBezTo>
                    <a:pt x="2201706" y="5080"/>
                    <a:pt x="2185196" y="7620"/>
                    <a:pt x="2169956" y="8890"/>
                  </a:cubicBezTo>
                  <a:cubicBezTo>
                    <a:pt x="2167416" y="8890"/>
                    <a:pt x="2163606" y="10160"/>
                    <a:pt x="2162336" y="11430"/>
                  </a:cubicBezTo>
                  <a:cubicBezTo>
                    <a:pt x="2152176" y="17780"/>
                    <a:pt x="2142016" y="12700"/>
                    <a:pt x="2131856" y="11430"/>
                  </a:cubicBezTo>
                  <a:cubicBezTo>
                    <a:pt x="2124236" y="11430"/>
                    <a:pt x="2116616" y="7620"/>
                    <a:pt x="2108996" y="6350"/>
                  </a:cubicBezTo>
                  <a:cubicBezTo>
                    <a:pt x="2100106" y="5080"/>
                    <a:pt x="2092486" y="6350"/>
                    <a:pt x="2083596" y="5080"/>
                  </a:cubicBezTo>
                  <a:cubicBezTo>
                    <a:pt x="2082326" y="5080"/>
                    <a:pt x="2081056" y="3810"/>
                    <a:pt x="2079786" y="2540"/>
                  </a:cubicBezTo>
                  <a:cubicBezTo>
                    <a:pt x="2077246" y="-1270"/>
                    <a:pt x="2072166" y="0"/>
                    <a:pt x="2069626" y="1270"/>
                  </a:cubicBezTo>
                  <a:cubicBezTo>
                    <a:pt x="2065816" y="3810"/>
                    <a:pt x="2064546" y="7620"/>
                    <a:pt x="2062006" y="11430"/>
                  </a:cubicBezTo>
                  <a:cubicBezTo>
                    <a:pt x="2055656" y="12700"/>
                    <a:pt x="2046766" y="13970"/>
                    <a:pt x="2040416" y="17780"/>
                  </a:cubicBezTo>
                  <a:cubicBezTo>
                    <a:pt x="2035336" y="20320"/>
                    <a:pt x="2032796" y="21590"/>
                    <a:pt x="2028986" y="19050"/>
                  </a:cubicBezTo>
                  <a:lnTo>
                    <a:pt x="2027716" y="20320"/>
                  </a:lnTo>
                  <a:cubicBezTo>
                    <a:pt x="2030256" y="22860"/>
                    <a:pt x="2031526" y="26670"/>
                    <a:pt x="2034066" y="29210"/>
                  </a:cubicBezTo>
                  <a:cubicBezTo>
                    <a:pt x="2030256" y="30480"/>
                    <a:pt x="2025176" y="33020"/>
                    <a:pt x="2022636" y="31750"/>
                  </a:cubicBezTo>
                  <a:cubicBezTo>
                    <a:pt x="2016286" y="30480"/>
                    <a:pt x="2013746" y="33020"/>
                    <a:pt x="2008666" y="35560"/>
                  </a:cubicBezTo>
                  <a:cubicBezTo>
                    <a:pt x="2003586" y="39370"/>
                    <a:pt x="1997236" y="41910"/>
                    <a:pt x="1992156" y="44450"/>
                  </a:cubicBezTo>
                  <a:cubicBezTo>
                    <a:pt x="1990886" y="44450"/>
                    <a:pt x="1989616" y="44450"/>
                    <a:pt x="1988346" y="43180"/>
                  </a:cubicBezTo>
                  <a:cubicBezTo>
                    <a:pt x="1987076" y="43180"/>
                    <a:pt x="1985806" y="41910"/>
                    <a:pt x="1985806" y="41910"/>
                  </a:cubicBezTo>
                  <a:cubicBezTo>
                    <a:pt x="1979456" y="44450"/>
                    <a:pt x="1973106" y="46990"/>
                    <a:pt x="1966756" y="44450"/>
                  </a:cubicBezTo>
                  <a:cubicBezTo>
                    <a:pt x="1965486" y="44450"/>
                    <a:pt x="1965486" y="45720"/>
                    <a:pt x="1964216" y="45720"/>
                  </a:cubicBezTo>
                  <a:cubicBezTo>
                    <a:pt x="1956596" y="48260"/>
                    <a:pt x="1951516" y="57150"/>
                    <a:pt x="1941356" y="57150"/>
                  </a:cubicBezTo>
                  <a:cubicBezTo>
                    <a:pt x="1933736" y="57150"/>
                    <a:pt x="1926116" y="63500"/>
                    <a:pt x="1918496" y="63500"/>
                  </a:cubicBezTo>
                  <a:cubicBezTo>
                    <a:pt x="1909606" y="64770"/>
                    <a:pt x="1901986" y="67310"/>
                    <a:pt x="1894366" y="71120"/>
                  </a:cubicBezTo>
                  <a:cubicBezTo>
                    <a:pt x="1891826" y="72390"/>
                    <a:pt x="1889286" y="72390"/>
                    <a:pt x="1888016" y="72390"/>
                  </a:cubicBezTo>
                  <a:cubicBezTo>
                    <a:pt x="1881666" y="69850"/>
                    <a:pt x="1877856" y="73660"/>
                    <a:pt x="1875316" y="77470"/>
                  </a:cubicBezTo>
                  <a:cubicBezTo>
                    <a:pt x="1868966" y="86360"/>
                    <a:pt x="1858806" y="88900"/>
                    <a:pt x="1849916" y="91440"/>
                  </a:cubicBezTo>
                  <a:cubicBezTo>
                    <a:pt x="1838486" y="93980"/>
                    <a:pt x="1827056" y="95250"/>
                    <a:pt x="1815626" y="96520"/>
                  </a:cubicBezTo>
                  <a:cubicBezTo>
                    <a:pt x="1814356" y="96520"/>
                    <a:pt x="1813086" y="100330"/>
                    <a:pt x="1810546" y="101600"/>
                  </a:cubicBezTo>
                  <a:cubicBezTo>
                    <a:pt x="1809276" y="101600"/>
                    <a:pt x="1808006" y="100330"/>
                    <a:pt x="1808006" y="100330"/>
                  </a:cubicBezTo>
                  <a:cubicBezTo>
                    <a:pt x="1801656" y="107950"/>
                    <a:pt x="1797846" y="119380"/>
                    <a:pt x="1785146" y="118110"/>
                  </a:cubicBezTo>
                  <a:lnTo>
                    <a:pt x="1783876" y="118110"/>
                  </a:lnTo>
                  <a:cubicBezTo>
                    <a:pt x="1773716" y="124460"/>
                    <a:pt x="1763556" y="121920"/>
                    <a:pt x="1754666" y="119380"/>
                  </a:cubicBezTo>
                  <a:cubicBezTo>
                    <a:pt x="1752126" y="119380"/>
                    <a:pt x="1748316" y="116840"/>
                    <a:pt x="1747046" y="114300"/>
                  </a:cubicBezTo>
                  <a:cubicBezTo>
                    <a:pt x="1743236" y="106680"/>
                    <a:pt x="1733076" y="104140"/>
                    <a:pt x="1725456" y="106680"/>
                  </a:cubicBezTo>
                  <a:cubicBezTo>
                    <a:pt x="1719106" y="109220"/>
                    <a:pt x="1712756" y="110490"/>
                    <a:pt x="1706406" y="113030"/>
                  </a:cubicBezTo>
                  <a:cubicBezTo>
                    <a:pt x="1696246" y="115570"/>
                    <a:pt x="1687356" y="116840"/>
                    <a:pt x="1677196" y="111760"/>
                  </a:cubicBezTo>
                  <a:cubicBezTo>
                    <a:pt x="1667036" y="106680"/>
                    <a:pt x="1659416" y="110490"/>
                    <a:pt x="1654336" y="121920"/>
                  </a:cubicBezTo>
                  <a:cubicBezTo>
                    <a:pt x="1650526" y="129540"/>
                    <a:pt x="1640366" y="130810"/>
                    <a:pt x="1634016" y="124460"/>
                  </a:cubicBezTo>
                  <a:cubicBezTo>
                    <a:pt x="1630206" y="120650"/>
                    <a:pt x="1627666" y="121920"/>
                    <a:pt x="1623856" y="124460"/>
                  </a:cubicBezTo>
                  <a:lnTo>
                    <a:pt x="1616236" y="132080"/>
                  </a:lnTo>
                  <a:cubicBezTo>
                    <a:pt x="1614966" y="133350"/>
                    <a:pt x="1612426" y="133350"/>
                    <a:pt x="1611156" y="133350"/>
                  </a:cubicBezTo>
                  <a:lnTo>
                    <a:pt x="1603536" y="133350"/>
                  </a:lnTo>
                  <a:cubicBezTo>
                    <a:pt x="1598456" y="133350"/>
                    <a:pt x="1593376" y="132080"/>
                    <a:pt x="1588296" y="130810"/>
                  </a:cubicBezTo>
                  <a:cubicBezTo>
                    <a:pt x="1581946" y="129540"/>
                    <a:pt x="1576866" y="125730"/>
                    <a:pt x="1570516" y="124460"/>
                  </a:cubicBezTo>
                  <a:cubicBezTo>
                    <a:pt x="1560356" y="123190"/>
                    <a:pt x="1557816" y="114300"/>
                    <a:pt x="1554006" y="107950"/>
                  </a:cubicBezTo>
                  <a:cubicBezTo>
                    <a:pt x="1551466" y="104140"/>
                    <a:pt x="1546386" y="99060"/>
                    <a:pt x="1541306" y="100330"/>
                  </a:cubicBezTo>
                  <a:cubicBezTo>
                    <a:pt x="1536226" y="102870"/>
                    <a:pt x="1531146" y="100330"/>
                    <a:pt x="1527336" y="99060"/>
                  </a:cubicBezTo>
                  <a:cubicBezTo>
                    <a:pt x="1526066" y="99060"/>
                    <a:pt x="1523526" y="97790"/>
                    <a:pt x="1522256" y="97790"/>
                  </a:cubicBezTo>
                  <a:cubicBezTo>
                    <a:pt x="1513366" y="95250"/>
                    <a:pt x="1507016" y="100330"/>
                    <a:pt x="1500666" y="106680"/>
                  </a:cubicBezTo>
                  <a:lnTo>
                    <a:pt x="1495586" y="111760"/>
                  </a:lnTo>
                  <a:cubicBezTo>
                    <a:pt x="1494316" y="113030"/>
                    <a:pt x="1494316" y="115570"/>
                    <a:pt x="1493046" y="116840"/>
                  </a:cubicBezTo>
                  <a:cubicBezTo>
                    <a:pt x="1485426" y="123190"/>
                    <a:pt x="1477806" y="120650"/>
                    <a:pt x="1468916" y="116840"/>
                  </a:cubicBezTo>
                  <a:cubicBezTo>
                    <a:pt x="1461296" y="113030"/>
                    <a:pt x="1452406" y="116840"/>
                    <a:pt x="1449866" y="124460"/>
                  </a:cubicBezTo>
                  <a:cubicBezTo>
                    <a:pt x="1448596" y="129540"/>
                    <a:pt x="1447326" y="133350"/>
                    <a:pt x="1440976" y="135890"/>
                  </a:cubicBezTo>
                  <a:cubicBezTo>
                    <a:pt x="1434626" y="139700"/>
                    <a:pt x="1427006" y="142240"/>
                    <a:pt x="1425736" y="151130"/>
                  </a:cubicBezTo>
                  <a:cubicBezTo>
                    <a:pt x="1425736" y="152400"/>
                    <a:pt x="1424466" y="153670"/>
                    <a:pt x="1423196" y="153670"/>
                  </a:cubicBezTo>
                  <a:cubicBezTo>
                    <a:pt x="1419386" y="154940"/>
                    <a:pt x="1416846" y="156210"/>
                    <a:pt x="1413036" y="157480"/>
                  </a:cubicBezTo>
                  <a:lnTo>
                    <a:pt x="1401606" y="157480"/>
                  </a:lnTo>
                  <a:cubicBezTo>
                    <a:pt x="1393986" y="156210"/>
                    <a:pt x="1386366" y="153670"/>
                    <a:pt x="1378746" y="152400"/>
                  </a:cubicBezTo>
                  <a:cubicBezTo>
                    <a:pt x="1369856" y="151130"/>
                    <a:pt x="1362236" y="156210"/>
                    <a:pt x="1353346" y="157480"/>
                  </a:cubicBezTo>
                  <a:lnTo>
                    <a:pt x="1352076" y="158750"/>
                  </a:lnTo>
                  <a:cubicBezTo>
                    <a:pt x="1349536" y="162560"/>
                    <a:pt x="1345726" y="161290"/>
                    <a:pt x="1343186" y="158750"/>
                  </a:cubicBezTo>
                  <a:cubicBezTo>
                    <a:pt x="1338106" y="153670"/>
                    <a:pt x="1329216" y="152400"/>
                    <a:pt x="1322866" y="154940"/>
                  </a:cubicBezTo>
                  <a:cubicBezTo>
                    <a:pt x="1315246" y="158750"/>
                    <a:pt x="1307626" y="161290"/>
                    <a:pt x="1300006" y="163830"/>
                  </a:cubicBezTo>
                  <a:cubicBezTo>
                    <a:pt x="1297466" y="163830"/>
                    <a:pt x="1294926" y="162560"/>
                    <a:pt x="1293656" y="162560"/>
                  </a:cubicBezTo>
                  <a:cubicBezTo>
                    <a:pt x="1291116" y="162560"/>
                    <a:pt x="1287306" y="161290"/>
                    <a:pt x="1286036" y="162560"/>
                  </a:cubicBezTo>
                  <a:cubicBezTo>
                    <a:pt x="1275876" y="170180"/>
                    <a:pt x="1265716" y="167640"/>
                    <a:pt x="1256826" y="162560"/>
                  </a:cubicBezTo>
                  <a:cubicBezTo>
                    <a:pt x="1251746" y="160020"/>
                    <a:pt x="1244126" y="157480"/>
                    <a:pt x="1241586" y="149860"/>
                  </a:cubicBezTo>
                  <a:cubicBezTo>
                    <a:pt x="1240316" y="144780"/>
                    <a:pt x="1235236" y="139700"/>
                    <a:pt x="1231426" y="135890"/>
                  </a:cubicBezTo>
                  <a:cubicBezTo>
                    <a:pt x="1225076" y="129540"/>
                    <a:pt x="1218726" y="120650"/>
                    <a:pt x="1207296" y="120650"/>
                  </a:cubicBezTo>
                  <a:cubicBezTo>
                    <a:pt x="1204756" y="120650"/>
                    <a:pt x="1202216" y="115570"/>
                    <a:pt x="1200946" y="116840"/>
                  </a:cubicBezTo>
                  <a:cubicBezTo>
                    <a:pt x="1195866" y="118110"/>
                    <a:pt x="1195866" y="115570"/>
                    <a:pt x="1193326" y="113030"/>
                  </a:cubicBezTo>
                  <a:cubicBezTo>
                    <a:pt x="1190786" y="110490"/>
                    <a:pt x="1186976" y="107950"/>
                    <a:pt x="1184436" y="104140"/>
                  </a:cubicBezTo>
                  <a:cubicBezTo>
                    <a:pt x="1180626" y="99060"/>
                    <a:pt x="1176816" y="92710"/>
                    <a:pt x="1173006" y="87630"/>
                  </a:cubicBezTo>
                  <a:cubicBezTo>
                    <a:pt x="1169196" y="82550"/>
                    <a:pt x="1166656" y="76200"/>
                    <a:pt x="1162846" y="71120"/>
                  </a:cubicBezTo>
                  <a:cubicBezTo>
                    <a:pt x="1161576" y="69850"/>
                    <a:pt x="1157766" y="68580"/>
                    <a:pt x="1156496" y="69850"/>
                  </a:cubicBezTo>
                  <a:lnTo>
                    <a:pt x="1141256" y="77470"/>
                  </a:lnTo>
                  <a:cubicBezTo>
                    <a:pt x="1138716" y="78740"/>
                    <a:pt x="1137446" y="81280"/>
                    <a:pt x="1136176" y="83820"/>
                  </a:cubicBezTo>
                  <a:lnTo>
                    <a:pt x="1134906" y="82550"/>
                  </a:lnTo>
                  <a:cubicBezTo>
                    <a:pt x="1136176" y="78740"/>
                    <a:pt x="1137446" y="74930"/>
                    <a:pt x="1138716" y="73660"/>
                  </a:cubicBezTo>
                  <a:lnTo>
                    <a:pt x="1123476" y="69850"/>
                  </a:lnTo>
                  <a:cubicBezTo>
                    <a:pt x="1119666" y="68580"/>
                    <a:pt x="1113316" y="68580"/>
                    <a:pt x="1110776" y="68580"/>
                  </a:cubicBezTo>
                  <a:lnTo>
                    <a:pt x="1090456" y="68580"/>
                  </a:lnTo>
                  <a:cubicBezTo>
                    <a:pt x="1082836" y="68580"/>
                    <a:pt x="1076486" y="67310"/>
                    <a:pt x="1068866" y="68580"/>
                  </a:cubicBezTo>
                  <a:cubicBezTo>
                    <a:pt x="1063786" y="69850"/>
                    <a:pt x="1059976" y="67310"/>
                    <a:pt x="1056166" y="64770"/>
                  </a:cubicBezTo>
                  <a:cubicBezTo>
                    <a:pt x="1046006" y="57150"/>
                    <a:pt x="1035846" y="48260"/>
                    <a:pt x="1021876" y="52070"/>
                  </a:cubicBezTo>
                  <a:cubicBezTo>
                    <a:pt x="1020606" y="52070"/>
                    <a:pt x="1018066" y="50800"/>
                    <a:pt x="1016796" y="49530"/>
                  </a:cubicBezTo>
                  <a:cubicBezTo>
                    <a:pt x="1012986" y="48260"/>
                    <a:pt x="1010446" y="45720"/>
                    <a:pt x="1005366" y="43180"/>
                  </a:cubicBezTo>
                  <a:cubicBezTo>
                    <a:pt x="1005366" y="46990"/>
                    <a:pt x="1005366" y="48260"/>
                    <a:pt x="1006636" y="50800"/>
                  </a:cubicBezTo>
                  <a:cubicBezTo>
                    <a:pt x="1004096" y="53340"/>
                    <a:pt x="1002826" y="52070"/>
                    <a:pt x="1001556" y="50800"/>
                  </a:cubicBezTo>
                  <a:cubicBezTo>
                    <a:pt x="1000286" y="52070"/>
                    <a:pt x="999016" y="54610"/>
                    <a:pt x="997746" y="54610"/>
                  </a:cubicBezTo>
                  <a:cubicBezTo>
                    <a:pt x="991396" y="57150"/>
                    <a:pt x="985046" y="58420"/>
                    <a:pt x="978696" y="60960"/>
                  </a:cubicBezTo>
                  <a:cubicBezTo>
                    <a:pt x="976156" y="62230"/>
                    <a:pt x="973616" y="63500"/>
                    <a:pt x="972346" y="64770"/>
                  </a:cubicBezTo>
                  <a:cubicBezTo>
                    <a:pt x="967266" y="68580"/>
                    <a:pt x="963456" y="74930"/>
                    <a:pt x="954566" y="73660"/>
                  </a:cubicBezTo>
                  <a:cubicBezTo>
                    <a:pt x="953296" y="73660"/>
                    <a:pt x="950756" y="76200"/>
                    <a:pt x="948216" y="76200"/>
                  </a:cubicBezTo>
                  <a:cubicBezTo>
                    <a:pt x="945676" y="77470"/>
                    <a:pt x="941866" y="77470"/>
                    <a:pt x="939326" y="78740"/>
                  </a:cubicBezTo>
                  <a:lnTo>
                    <a:pt x="936786" y="78740"/>
                  </a:lnTo>
                  <a:cubicBezTo>
                    <a:pt x="929166" y="81280"/>
                    <a:pt x="922816" y="83820"/>
                    <a:pt x="915196" y="85090"/>
                  </a:cubicBezTo>
                  <a:lnTo>
                    <a:pt x="910116" y="85090"/>
                  </a:lnTo>
                  <a:cubicBezTo>
                    <a:pt x="903766" y="85090"/>
                    <a:pt x="898686" y="83820"/>
                    <a:pt x="892336" y="83820"/>
                  </a:cubicBezTo>
                  <a:cubicBezTo>
                    <a:pt x="885986" y="83820"/>
                    <a:pt x="879636" y="86360"/>
                    <a:pt x="873286" y="86360"/>
                  </a:cubicBezTo>
                  <a:cubicBezTo>
                    <a:pt x="865666" y="86360"/>
                    <a:pt x="856776" y="86360"/>
                    <a:pt x="850426" y="81280"/>
                  </a:cubicBezTo>
                  <a:cubicBezTo>
                    <a:pt x="849156" y="80010"/>
                    <a:pt x="845346" y="80010"/>
                    <a:pt x="842806" y="81280"/>
                  </a:cubicBezTo>
                  <a:cubicBezTo>
                    <a:pt x="833916" y="82550"/>
                    <a:pt x="825026" y="83820"/>
                    <a:pt x="817406" y="86360"/>
                  </a:cubicBezTo>
                  <a:cubicBezTo>
                    <a:pt x="809786" y="88900"/>
                    <a:pt x="805976" y="86360"/>
                    <a:pt x="803436" y="80010"/>
                  </a:cubicBezTo>
                  <a:cubicBezTo>
                    <a:pt x="802166" y="77470"/>
                    <a:pt x="799626" y="74930"/>
                    <a:pt x="797086" y="72390"/>
                  </a:cubicBezTo>
                  <a:cubicBezTo>
                    <a:pt x="793276" y="69850"/>
                    <a:pt x="789466" y="66040"/>
                    <a:pt x="785656" y="66040"/>
                  </a:cubicBezTo>
                  <a:cubicBezTo>
                    <a:pt x="776766" y="66040"/>
                    <a:pt x="771686" y="60960"/>
                    <a:pt x="765336" y="57150"/>
                  </a:cubicBezTo>
                  <a:cubicBezTo>
                    <a:pt x="755176" y="50800"/>
                    <a:pt x="746286" y="43180"/>
                    <a:pt x="733586" y="44450"/>
                  </a:cubicBezTo>
                  <a:lnTo>
                    <a:pt x="733586" y="38100"/>
                  </a:lnTo>
                  <a:cubicBezTo>
                    <a:pt x="736126" y="38100"/>
                    <a:pt x="738666" y="38100"/>
                    <a:pt x="741206" y="36830"/>
                  </a:cubicBezTo>
                  <a:cubicBezTo>
                    <a:pt x="737396" y="34290"/>
                    <a:pt x="737396" y="30480"/>
                    <a:pt x="734856" y="27940"/>
                  </a:cubicBezTo>
                  <a:cubicBezTo>
                    <a:pt x="729776" y="24130"/>
                    <a:pt x="724696" y="22860"/>
                    <a:pt x="719616" y="20320"/>
                  </a:cubicBezTo>
                  <a:cubicBezTo>
                    <a:pt x="715806" y="19050"/>
                    <a:pt x="710726" y="19050"/>
                    <a:pt x="713266" y="25400"/>
                  </a:cubicBezTo>
                  <a:cubicBezTo>
                    <a:pt x="706916" y="26670"/>
                    <a:pt x="701836" y="26670"/>
                    <a:pt x="699296" y="29210"/>
                  </a:cubicBezTo>
                  <a:cubicBezTo>
                    <a:pt x="694216" y="33020"/>
                    <a:pt x="689136" y="30480"/>
                    <a:pt x="685326" y="27940"/>
                  </a:cubicBezTo>
                  <a:cubicBezTo>
                    <a:pt x="682786" y="26670"/>
                    <a:pt x="680246" y="25400"/>
                    <a:pt x="677706" y="26670"/>
                  </a:cubicBezTo>
                  <a:cubicBezTo>
                    <a:pt x="662466" y="34290"/>
                    <a:pt x="647226" y="30480"/>
                    <a:pt x="631986" y="30480"/>
                  </a:cubicBezTo>
                  <a:cubicBezTo>
                    <a:pt x="629446" y="30480"/>
                    <a:pt x="626906" y="29210"/>
                    <a:pt x="623096" y="29210"/>
                  </a:cubicBezTo>
                  <a:cubicBezTo>
                    <a:pt x="618016" y="27940"/>
                    <a:pt x="614206" y="25400"/>
                    <a:pt x="609126" y="24130"/>
                  </a:cubicBezTo>
                  <a:cubicBezTo>
                    <a:pt x="604046" y="22860"/>
                    <a:pt x="597696" y="21590"/>
                    <a:pt x="592616" y="20320"/>
                  </a:cubicBezTo>
                  <a:lnTo>
                    <a:pt x="588806" y="20320"/>
                  </a:lnTo>
                  <a:cubicBezTo>
                    <a:pt x="579916" y="20320"/>
                    <a:pt x="571026" y="21590"/>
                    <a:pt x="563406" y="21590"/>
                  </a:cubicBezTo>
                  <a:cubicBezTo>
                    <a:pt x="557056" y="21590"/>
                    <a:pt x="550706" y="19050"/>
                    <a:pt x="543086" y="17780"/>
                  </a:cubicBezTo>
                  <a:cubicBezTo>
                    <a:pt x="541816" y="7620"/>
                    <a:pt x="531656" y="10160"/>
                    <a:pt x="525306" y="5080"/>
                  </a:cubicBezTo>
                  <a:cubicBezTo>
                    <a:pt x="524036" y="3810"/>
                    <a:pt x="521496" y="5080"/>
                    <a:pt x="520226" y="5080"/>
                  </a:cubicBezTo>
                  <a:cubicBezTo>
                    <a:pt x="512606" y="3810"/>
                    <a:pt x="507526" y="7620"/>
                    <a:pt x="504986" y="13970"/>
                  </a:cubicBezTo>
                  <a:cubicBezTo>
                    <a:pt x="501176" y="20320"/>
                    <a:pt x="491016" y="22860"/>
                    <a:pt x="494826" y="33020"/>
                  </a:cubicBezTo>
                  <a:cubicBezTo>
                    <a:pt x="496096" y="34290"/>
                    <a:pt x="498636" y="35560"/>
                    <a:pt x="499906" y="38100"/>
                  </a:cubicBezTo>
                  <a:cubicBezTo>
                    <a:pt x="499906" y="41910"/>
                    <a:pt x="498636" y="44450"/>
                    <a:pt x="494826" y="43180"/>
                  </a:cubicBezTo>
                  <a:cubicBezTo>
                    <a:pt x="493556" y="43180"/>
                    <a:pt x="492286" y="45720"/>
                    <a:pt x="491016" y="46990"/>
                  </a:cubicBezTo>
                  <a:cubicBezTo>
                    <a:pt x="489746" y="48260"/>
                    <a:pt x="489746" y="50800"/>
                    <a:pt x="488476" y="50800"/>
                  </a:cubicBezTo>
                  <a:cubicBezTo>
                    <a:pt x="480856" y="53340"/>
                    <a:pt x="475776" y="59690"/>
                    <a:pt x="466886" y="58420"/>
                  </a:cubicBezTo>
                  <a:lnTo>
                    <a:pt x="464346" y="58420"/>
                  </a:lnTo>
                  <a:cubicBezTo>
                    <a:pt x="456726" y="64770"/>
                    <a:pt x="449106" y="63500"/>
                    <a:pt x="440216" y="62230"/>
                  </a:cubicBezTo>
                  <a:cubicBezTo>
                    <a:pt x="436406" y="60960"/>
                    <a:pt x="431326" y="62230"/>
                    <a:pt x="426246" y="62230"/>
                  </a:cubicBezTo>
                  <a:cubicBezTo>
                    <a:pt x="422436" y="62230"/>
                    <a:pt x="418626" y="62230"/>
                    <a:pt x="414816" y="59690"/>
                  </a:cubicBezTo>
                  <a:cubicBezTo>
                    <a:pt x="409736" y="57150"/>
                    <a:pt x="404656" y="53340"/>
                    <a:pt x="399576" y="50800"/>
                  </a:cubicBezTo>
                  <a:cubicBezTo>
                    <a:pt x="394496" y="48260"/>
                    <a:pt x="388146" y="48260"/>
                    <a:pt x="388146" y="39370"/>
                  </a:cubicBezTo>
                  <a:cubicBezTo>
                    <a:pt x="388146" y="38100"/>
                    <a:pt x="385606" y="36830"/>
                    <a:pt x="385606" y="35560"/>
                  </a:cubicBezTo>
                  <a:cubicBezTo>
                    <a:pt x="376716" y="43180"/>
                    <a:pt x="369096" y="49530"/>
                    <a:pt x="361476" y="55880"/>
                  </a:cubicBezTo>
                  <a:cubicBezTo>
                    <a:pt x="357666" y="59690"/>
                    <a:pt x="352586" y="64770"/>
                    <a:pt x="355126" y="71120"/>
                  </a:cubicBezTo>
                  <a:cubicBezTo>
                    <a:pt x="355126" y="72390"/>
                    <a:pt x="353856" y="73660"/>
                    <a:pt x="353856" y="74930"/>
                  </a:cubicBezTo>
                  <a:cubicBezTo>
                    <a:pt x="352586" y="77470"/>
                    <a:pt x="351316" y="80010"/>
                    <a:pt x="348776" y="81280"/>
                  </a:cubicBezTo>
                  <a:cubicBezTo>
                    <a:pt x="346236" y="85090"/>
                    <a:pt x="343696" y="88900"/>
                    <a:pt x="341156" y="93980"/>
                  </a:cubicBezTo>
                  <a:lnTo>
                    <a:pt x="333536" y="101600"/>
                  </a:lnTo>
                  <a:cubicBezTo>
                    <a:pt x="330996" y="105410"/>
                    <a:pt x="328456" y="109220"/>
                    <a:pt x="324646" y="111760"/>
                  </a:cubicBezTo>
                  <a:cubicBezTo>
                    <a:pt x="315756" y="119380"/>
                    <a:pt x="306866" y="127000"/>
                    <a:pt x="296706" y="134620"/>
                  </a:cubicBezTo>
                  <a:cubicBezTo>
                    <a:pt x="291626" y="139700"/>
                    <a:pt x="285276" y="143510"/>
                    <a:pt x="280196" y="148590"/>
                  </a:cubicBezTo>
                  <a:cubicBezTo>
                    <a:pt x="271306" y="156210"/>
                    <a:pt x="261146" y="162560"/>
                    <a:pt x="256066" y="173990"/>
                  </a:cubicBezTo>
                  <a:cubicBezTo>
                    <a:pt x="256066" y="175260"/>
                    <a:pt x="253526" y="176530"/>
                    <a:pt x="252256" y="177800"/>
                  </a:cubicBezTo>
                  <a:cubicBezTo>
                    <a:pt x="245906" y="182880"/>
                    <a:pt x="235746" y="182880"/>
                    <a:pt x="235746" y="193040"/>
                  </a:cubicBezTo>
                  <a:cubicBezTo>
                    <a:pt x="225586" y="193040"/>
                    <a:pt x="220506" y="200660"/>
                    <a:pt x="215426" y="207010"/>
                  </a:cubicBezTo>
                  <a:cubicBezTo>
                    <a:pt x="211616" y="212090"/>
                    <a:pt x="207806" y="218440"/>
                    <a:pt x="202726" y="222250"/>
                  </a:cubicBezTo>
                  <a:cubicBezTo>
                    <a:pt x="197646" y="224790"/>
                    <a:pt x="191296" y="223520"/>
                    <a:pt x="184946" y="223520"/>
                  </a:cubicBezTo>
                  <a:cubicBezTo>
                    <a:pt x="182406" y="223520"/>
                    <a:pt x="179866" y="223520"/>
                    <a:pt x="179866" y="224790"/>
                  </a:cubicBezTo>
                  <a:cubicBezTo>
                    <a:pt x="174786" y="229870"/>
                    <a:pt x="168436" y="233680"/>
                    <a:pt x="164626" y="240030"/>
                  </a:cubicBezTo>
                  <a:cubicBezTo>
                    <a:pt x="160816" y="246380"/>
                    <a:pt x="157006" y="250190"/>
                    <a:pt x="150656" y="251460"/>
                  </a:cubicBezTo>
                  <a:cubicBezTo>
                    <a:pt x="144306" y="252730"/>
                    <a:pt x="137956" y="259080"/>
                    <a:pt x="129066" y="255270"/>
                  </a:cubicBezTo>
                  <a:cubicBezTo>
                    <a:pt x="121446" y="252730"/>
                    <a:pt x="112556" y="255270"/>
                    <a:pt x="107476" y="250190"/>
                  </a:cubicBezTo>
                  <a:cubicBezTo>
                    <a:pt x="97316" y="251460"/>
                    <a:pt x="89696" y="254000"/>
                    <a:pt x="80806" y="255270"/>
                  </a:cubicBezTo>
                  <a:cubicBezTo>
                    <a:pt x="70646" y="257810"/>
                    <a:pt x="59216" y="256540"/>
                    <a:pt x="50326" y="264160"/>
                  </a:cubicBezTo>
                  <a:cubicBezTo>
                    <a:pt x="42706" y="270510"/>
                    <a:pt x="36356" y="276860"/>
                    <a:pt x="24926" y="275590"/>
                  </a:cubicBezTo>
                  <a:cubicBezTo>
                    <a:pt x="26196" y="283210"/>
                    <a:pt x="27466" y="289560"/>
                    <a:pt x="28736" y="297180"/>
                  </a:cubicBezTo>
                  <a:cubicBezTo>
                    <a:pt x="31276" y="317500"/>
                    <a:pt x="33816" y="337820"/>
                    <a:pt x="35086" y="358140"/>
                  </a:cubicBezTo>
                  <a:cubicBezTo>
                    <a:pt x="38896" y="383540"/>
                    <a:pt x="40166" y="407670"/>
                    <a:pt x="37626" y="431800"/>
                  </a:cubicBezTo>
                  <a:cubicBezTo>
                    <a:pt x="35086" y="466090"/>
                    <a:pt x="23656" y="1639570"/>
                    <a:pt x="12226" y="1671320"/>
                  </a:cubicBezTo>
                  <a:lnTo>
                    <a:pt x="796" y="1697990"/>
                  </a:lnTo>
                  <a:cubicBezTo>
                    <a:pt x="-1744" y="1704340"/>
                    <a:pt x="2066" y="1708150"/>
                    <a:pt x="8416" y="1709420"/>
                  </a:cubicBezTo>
                  <a:cubicBezTo>
                    <a:pt x="16036" y="1710690"/>
                    <a:pt x="18576" y="1715770"/>
                    <a:pt x="21116" y="1722120"/>
                  </a:cubicBezTo>
                  <a:cubicBezTo>
                    <a:pt x="23656" y="1732280"/>
                    <a:pt x="19846" y="1742440"/>
                    <a:pt x="24926" y="1752600"/>
                  </a:cubicBezTo>
                  <a:cubicBezTo>
                    <a:pt x="27466" y="1757680"/>
                    <a:pt x="24926" y="1766570"/>
                    <a:pt x="23656" y="1774190"/>
                  </a:cubicBezTo>
                  <a:cubicBezTo>
                    <a:pt x="22386" y="1784350"/>
                    <a:pt x="24926" y="1794510"/>
                    <a:pt x="28736" y="1803400"/>
                  </a:cubicBezTo>
                  <a:cubicBezTo>
                    <a:pt x="37626" y="1818640"/>
                    <a:pt x="38896" y="1836420"/>
                    <a:pt x="38896" y="1852930"/>
                  </a:cubicBezTo>
                  <a:cubicBezTo>
                    <a:pt x="38896" y="1856740"/>
                    <a:pt x="40166" y="1860550"/>
                    <a:pt x="41436" y="1863090"/>
                  </a:cubicBezTo>
                  <a:cubicBezTo>
                    <a:pt x="43976" y="1865630"/>
                    <a:pt x="49056" y="1868170"/>
                    <a:pt x="54136" y="1869440"/>
                  </a:cubicBezTo>
                  <a:lnTo>
                    <a:pt x="84616" y="1884680"/>
                  </a:lnTo>
                  <a:cubicBezTo>
                    <a:pt x="98586" y="1892300"/>
                    <a:pt x="110016" y="1891030"/>
                    <a:pt x="122716" y="1882140"/>
                  </a:cubicBezTo>
                  <a:cubicBezTo>
                    <a:pt x="123986" y="1880870"/>
                    <a:pt x="127796" y="1879600"/>
                    <a:pt x="129066" y="1879600"/>
                  </a:cubicBezTo>
                  <a:cubicBezTo>
                    <a:pt x="137956" y="1880870"/>
                    <a:pt x="146846" y="1880870"/>
                    <a:pt x="154466" y="1888490"/>
                  </a:cubicBezTo>
                  <a:cubicBezTo>
                    <a:pt x="163356" y="1896110"/>
                    <a:pt x="176056" y="1901190"/>
                    <a:pt x="186216" y="1907540"/>
                  </a:cubicBezTo>
                  <a:cubicBezTo>
                    <a:pt x="192566" y="1911350"/>
                    <a:pt x="200186" y="1916430"/>
                    <a:pt x="203996" y="1921510"/>
                  </a:cubicBezTo>
                  <a:cubicBezTo>
                    <a:pt x="206536" y="1924050"/>
                    <a:pt x="209076" y="1926590"/>
                    <a:pt x="211616" y="1927860"/>
                  </a:cubicBezTo>
                  <a:cubicBezTo>
                    <a:pt x="225586" y="1932940"/>
                    <a:pt x="233206" y="1945640"/>
                    <a:pt x="242096" y="1955800"/>
                  </a:cubicBezTo>
                  <a:cubicBezTo>
                    <a:pt x="249716" y="1964690"/>
                    <a:pt x="259876" y="1969770"/>
                    <a:pt x="271306" y="1971040"/>
                  </a:cubicBezTo>
                  <a:cubicBezTo>
                    <a:pt x="284006" y="1973580"/>
                    <a:pt x="296706" y="1974850"/>
                    <a:pt x="309406" y="1977390"/>
                  </a:cubicBezTo>
                  <a:cubicBezTo>
                    <a:pt x="314486" y="1978660"/>
                    <a:pt x="320836" y="1979930"/>
                    <a:pt x="325916" y="1982470"/>
                  </a:cubicBezTo>
                  <a:cubicBezTo>
                    <a:pt x="332266" y="1985010"/>
                    <a:pt x="338616" y="1985010"/>
                    <a:pt x="343696" y="1988820"/>
                  </a:cubicBezTo>
                  <a:cubicBezTo>
                    <a:pt x="351316" y="1995170"/>
                    <a:pt x="358936" y="1998980"/>
                    <a:pt x="369096" y="1996440"/>
                  </a:cubicBezTo>
                  <a:cubicBezTo>
                    <a:pt x="372906" y="1995170"/>
                    <a:pt x="377986" y="1997710"/>
                    <a:pt x="381796" y="1998980"/>
                  </a:cubicBezTo>
                  <a:cubicBezTo>
                    <a:pt x="383066" y="1998980"/>
                    <a:pt x="384336" y="2000250"/>
                    <a:pt x="385606" y="2000250"/>
                  </a:cubicBezTo>
                  <a:cubicBezTo>
                    <a:pt x="399576" y="2001520"/>
                    <a:pt x="412276" y="1998980"/>
                    <a:pt x="424976" y="1996440"/>
                  </a:cubicBezTo>
                  <a:cubicBezTo>
                    <a:pt x="430056" y="1995170"/>
                    <a:pt x="435136" y="1993900"/>
                    <a:pt x="440216" y="1991360"/>
                  </a:cubicBezTo>
                  <a:cubicBezTo>
                    <a:pt x="454186" y="1985010"/>
                    <a:pt x="468156" y="1978660"/>
                    <a:pt x="480856" y="1971040"/>
                  </a:cubicBezTo>
                  <a:cubicBezTo>
                    <a:pt x="489746" y="1965960"/>
                    <a:pt x="498636" y="1960880"/>
                    <a:pt x="508796" y="1965960"/>
                  </a:cubicBezTo>
                  <a:lnTo>
                    <a:pt x="513876" y="1965960"/>
                  </a:lnTo>
                  <a:cubicBezTo>
                    <a:pt x="522766" y="1965960"/>
                    <a:pt x="531656" y="1964690"/>
                    <a:pt x="539276" y="1963420"/>
                  </a:cubicBezTo>
                  <a:cubicBezTo>
                    <a:pt x="540546" y="1963420"/>
                    <a:pt x="543086" y="1963420"/>
                    <a:pt x="543086" y="1962150"/>
                  </a:cubicBezTo>
                  <a:cubicBezTo>
                    <a:pt x="546896" y="1957070"/>
                    <a:pt x="553246" y="1957070"/>
                    <a:pt x="559596" y="1955800"/>
                  </a:cubicBezTo>
                  <a:cubicBezTo>
                    <a:pt x="569756" y="1954530"/>
                    <a:pt x="579916" y="1954530"/>
                    <a:pt x="587536" y="1948180"/>
                  </a:cubicBezTo>
                  <a:cubicBezTo>
                    <a:pt x="595156" y="1943100"/>
                    <a:pt x="602776" y="1941830"/>
                    <a:pt x="611666" y="1940560"/>
                  </a:cubicBezTo>
                  <a:cubicBezTo>
                    <a:pt x="612936" y="1940560"/>
                    <a:pt x="615476" y="1939290"/>
                    <a:pt x="616746" y="1939290"/>
                  </a:cubicBezTo>
                  <a:cubicBezTo>
                    <a:pt x="623096" y="1938020"/>
                    <a:pt x="629446" y="1934210"/>
                    <a:pt x="634526" y="1935480"/>
                  </a:cubicBezTo>
                  <a:cubicBezTo>
                    <a:pt x="645956" y="1938020"/>
                    <a:pt x="651036" y="1934210"/>
                    <a:pt x="658656" y="1924050"/>
                  </a:cubicBezTo>
                  <a:cubicBezTo>
                    <a:pt x="659926" y="1921510"/>
                    <a:pt x="663736" y="1920240"/>
                    <a:pt x="666276" y="1918970"/>
                  </a:cubicBezTo>
                  <a:cubicBezTo>
                    <a:pt x="672626" y="1917700"/>
                    <a:pt x="678976" y="1918970"/>
                    <a:pt x="685326" y="1917700"/>
                  </a:cubicBezTo>
                  <a:cubicBezTo>
                    <a:pt x="689136" y="1917700"/>
                    <a:pt x="692946" y="1913890"/>
                    <a:pt x="695486" y="1913890"/>
                  </a:cubicBezTo>
                  <a:cubicBezTo>
                    <a:pt x="705646" y="1915160"/>
                    <a:pt x="717076" y="1911350"/>
                    <a:pt x="725966" y="1917700"/>
                  </a:cubicBezTo>
                  <a:cubicBezTo>
                    <a:pt x="727236" y="1918970"/>
                    <a:pt x="729776" y="1918970"/>
                    <a:pt x="732316" y="1918970"/>
                  </a:cubicBezTo>
                  <a:cubicBezTo>
                    <a:pt x="748826" y="1920240"/>
                    <a:pt x="762796" y="1925320"/>
                    <a:pt x="774226" y="1935480"/>
                  </a:cubicBezTo>
                  <a:cubicBezTo>
                    <a:pt x="778036" y="1939290"/>
                    <a:pt x="783116" y="1941830"/>
                    <a:pt x="786926" y="1944370"/>
                  </a:cubicBezTo>
                  <a:cubicBezTo>
                    <a:pt x="790736" y="1946910"/>
                    <a:pt x="795816" y="1946910"/>
                    <a:pt x="799626" y="1948180"/>
                  </a:cubicBezTo>
                  <a:cubicBezTo>
                    <a:pt x="803436" y="1949450"/>
                    <a:pt x="805976" y="1950720"/>
                    <a:pt x="809786" y="1950720"/>
                  </a:cubicBezTo>
                  <a:cubicBezTo>
                    <a:pt x="816136" y="1950720"/>
                    <a:pt x="821216" y="1953260"/>
                    <a:pt x="825026" y="1958340"/>
                  </a:cubicBezTo>
                  <a:cubicBezTo>
                    <a:pt x="826296" y="1959610"/>
                    <a:pt x="827566" y="1960880"/>
                    <a:pt x="828836" y="1963420"/>
                  </a:cubicBezTo>
                  <a:cubicBezTo>
                    <a:pt x="827566" y="1967230"/>
                    <a:pt x="835186" y="1977390"/>
                    <a:pt x="840266" y="1977390"/>
                  </a:cubicBezTo>
                  <a:cubicBezTo>
                    <a:pt x="849156" y="1977390"/>
                    <a:pt x="858046" y="1979930"/>
                    <a:pt x="865666" y="1986280"/>
                  </a:cubicBezTo>
                  <a:cubicBezTo>
                    <a:pt x="866936" y="1987550"/>
                    <a:pt x="869476" y="1987550"/>
                    <a:pt x="872016" y="1986280"/>
                  </a:cubicBezTo>
                  <a:cubicBezTo>
                    <a:pt x="875826" y="1985010"/>
                    <a:pt x="878366" y="1985010"/>
                    <a:pt x="880906" y="1988820"/>
                  </a:cubicBezTo>
                  <a:cubicBezTo>
                    <a:pt x="882176" y="1990090"/>
                    <a:pt x="887256" y="1990090"/>
                    <a:pt x="889796" y="1990090"/>
                  </a:cubicBezTo>
                  <a:cubicBezTo>
                    <a:pt x="896146" y="1990090"/>
                    <a:pt x="903766" y="1988820"/>
                    <a:pt x="910116" y="1990090"/>
                  </a:cubicBezTo>
                  <a:cubicBezTo>
                    <a:pt x="921546" y="1991360"/>
                    <a:pt x="931706" y="1992630"/>
                    <a:pt x="943136" y="1995170"/>
                  </a:cubicBezTo>
                  <a:cubicBezTo>
                    <a:pt x="945676" y="1995170"/>
                    <a:pt x="948216" y="1996440"/>
                    <a:pt x="949486" y="1997710"/>
                  </a:cubicBezTo>
                  <a:cubicBezTo>
                    <a:pt x="952026" y="2004060"/>
                    <a:pt x="958376" y="2004060"/>
                    <a:pt x="962186" y="2005330"/>
                  </a:cubicBezTo>
                  <a:cubicBezTo>
                    <a:pt x="965996" y="2006600"/>
                    <a:pt x="971076" y="2007870"/>
                    <a:pt x="973616" y="2007870"/>
                  </a:cubicBezTo>
                  <a:cubicBezTo>
                    <a:pt x="974886" y="2006600"/>
                    <a:pt x="977426" y="2005330"/>
                    <a:pt x="979966" y="2002790"/>
                  </a:cubicBezTo>
                  <a:cubicBezTo>
                    <a:pt x="974886" y="2002790"/>
                    <a:pt x="972346" y="2004060"/>
                    <a:pt x="969806" y="2004060"/>
                  </a:cubicBezTo>
                  <a:cubicBezTo>
                    <a:pt x="974886" y="1997710"/>
                    <a:pt x="979966" y="1996440"/>
                    <a:pt x="986316" y="2000250"/>
                  </a:cubicBezTo>
                  <a:cubicBezTo>
                    <a:pt x="993936" y="2006600"/>
                    <a:pt x="1000286" y="2006600"/>
                    <a:pt x="1009176" y="2000250"/>
                  </a:cubicBezTo>
                  <a:lnTo>
                    <a:pt x="1016796" y="1996440"/>
                  </a:lnTo>
                  <a:lnTo>
                    <a:pt x="1016796" y="1990090"/>
                  </a:lnTo>
                  <a:cubicBezTo>
                    <a:pt x="1020606" y="1991360"/>
                    <a:pt x="1024416" y="1993900"/>
                    <a:pt x="1026956" y="1993900"/>
                  </a:cubicBezTo>
                  <a:cubicBezTo>
                    <a:pt x="1034576" y="1990090"/>
                    <a:pt x="1042196" y="1986280"/>
                    <a:pt x="1048546" y="1981200"/>
                  </a:cubicBezTo>
                  <a:cubicBezTo>
                    <a:pt x="1056166" y="1976120"/>
                    <a:pt x="1062516" y="1969770"/>
                    <a:pt x="1068866" y="1964690"/>
                  </a:cubicBezTo>
                  <a:cubicBezTo>
                    <a:pt x="1070136" y="1964690"/>
                    <a:pt x="1070136" y="1963420"/>
                    <a:pt x="1071406" y="1963420"/>
                  </a:cubicBezTo>
                  <a:cubicBezTo>
                    <a:pt x="1080296" y="1960880"/>
                    <a:pt x="1087916" y="1959610"/>
                    <a:pt x="1096806" y="1957070"/>
                  </a:cubicBezTo>
                  <a:cubicBezTo>
                    <a:pt x="1101886" y="1955800"/>
                    <a:pt x="1105696" y="1953260"/>
                    <a:pt x="1110776" y="1951990"/>
                  </a:cubicBezTo>
                  <a:cubicBezTo>
                    <a:pt x="1114586" y="1950720"/>
                    <a:pt x="1117126" y="1950720"/>
                    <a:pt x="1120936" y="1949450"/>
                  </a:cubicBezTo>
                  <a:lnTo>
                    <a:pt x="1133636" y="1949450"/>
                  </a:lnTo>
                  <a:cubicBezTo>
                    <a:pt x="1136176" y="1949450"/>
                    <a:pt x="1139986" y="1949450"/>
                    <a:pt x="1142526" y="1948180"/>
                  </a:cubicBezTo>
                  <a:cubicBezTo>
                    <a:pt x="1143796" y="1945640"/>
                    <a:pt x="1146336" y="1941830"/>
                    <a:pt x="1147606" y="1941830"/>
                  </a:cubicBezTo>
                  <a:cubicBezTo>
                    <a:pt x="1151416" y="1941830"/>
                    <a:pt x="1153956" y="1944370"/>
                    <a:pt x="1157766" y="1945640"/>
                  </a:cubicBezTo>
                  <a:cubicBezTo>
                    <a:pt x="1159036" y="1945640"/>
                    <a:pt x="1159036" y="1946910"/>
                    <a:pt x="1159036" y="1948180"/>
                  </a:cubicBezTo>
                  <a:cubicBezTo>
                    <a:pt x="1164116" y="1953260"/>
                    <a:pt x="1167926" y="1959610"/>
                    <a:pt x="1173006" y="1964690"/>
                  </a:cubicBezTo>
                  <a:cubicBezTo>
                    <a:pt x="1179356" y="1971040"/>
                    <a:pt x="1185706" y="1971040"/>
                    <a:pt x="1189516" y="1967230"/>
                  </a:cubicBezTo>
                  <a:cubicBezTo>
                    <a:pt x="1195866" y="1962150"/>
                    <a:pt x="1200946" y="1958340"/>
                    <a:pt x="1209836" y="1960880"/>
                  </a:cubicBezTo>
                  <a:cubicBezTo>
                    <a:pt x="1211106" y="1960880"/>
                    <a:pt x="1213646" y="1962150"/>
                    <a:pt x="1214916" y="1960880"/>
                  </a:cubicBezTo>
                  <a:cubicBezTo>
                    <a:pt x="1221266" y="1958340"/>
                    <a:pt x="1228886" y="1955800"/>
                    <a:pt x="1235236" y="1951990"/>
                  </a:cubicBezTo>
                  <a:cubicBezTo>
                    <a:pt x="1239046" y="1950720"/>
                    <a:pt x="1244126" y="1950720"/>
                    <a:pt x="1245396" y="1948180"/>
                  </a:cubicBezTo>
                  <a:cubicBezTo>
                    <a:pt x="1249206" y="1940560"/>
                    <a:pt x="1255556" y="1936750"/>
                    <a:pt x="1261906" y="1931670"/>
                  </a:cubicBezTo>
                  <a:cubicBezTo>
                    <a:pt x="1265716" y="1927860"/>
                    <a:pt x="1269526" y="1922780"/>
                    <a:pt x="1273336" y="1921510"/>
                  </a:cubicBezTo>
                  <a:cubicBezTo>
                    <a:pt x="1282226" y="1918970"/>
                    <a:pt x="1288576" y="1911350"/>
                    <a:pt x="1296196" y="1906270"/>
                  </a:cubicBezTo>
                  <a:cubicBezTo>
                    <a:pt x="1302546" y="1902460"/>
                    <a:pt x="1306356" y="1894840"/>
                    <a:pt x="1312706" y="1893570"/>
                  </a:cubicBezTo>
                  <a:cubicBezTo>
                    <a:pt x="1322866" y="1891030"/>
                    <a:pt x="1330486" y="1884680"/>
                    <a:pt x="1339376" y="1878330"/>
                  </a:cubicBezTo>
                  <a:cubicBezTo>
                    <a:pt x="1344456" y="1874520"/>
                    <a:pt x="1350806" y="1871980"/>
                    <a:pt x="1357156" y="1873250"/>
                  </a:cubicBezTo>
                  <a:cubicBezTo>
                    <a:pt x="1360966" y="1874520"/>
                    <a:pt x="1366046" y="1873250"/>
                    <a:pt x="1368586" y="1871980"/>
                  </a:cubicBezTo>
                  <a:cubicBezTo>
                    <a:pt x="1373666" y="1869440"/>
                    <a:pt x="1378746" y="1865630"/>
                    <a:pt x="1383826" y="1863090"/>
                  </a:cubicBezTo>
                  <a:cubicBezTo>
                    <a:pt x="1387636" y="1860550"/>
                    <a:pt x="1391446" y="1858010"/>
                    <a:pt x="1395256" y="1858010"/>
                  </a:cubicBezTo>
                  <a:cubicBezTo>
                    <a:pt x="1407956" y="1856740"/>
                    <a:pt x="1418116" y="1854200"/>
                    <a:pt x="1424466" y="1841500"/>
                  </a:cubicBezTo>
                  <a:cubicBezTo>
                    <a:pt x="1427006" y="1836420"/>
                    <a:pt x="1439706" y="1830070"/>
                    <a:pt x="1444786" y="1832610"/>
                  </a:cubicBezTo>
                  <a:cubicBezTo>
                    <a:pt x="1453676" y="1836420"/>
                    <a:pt x="1460026" y="1833880"/>
                    <a:pt x="1465106" y="1826260"/>
                  </a:cubicBezTo>
                  <a:cubicBezTo>
                    <a:pt x="1468916" y="1822450"/>
                    <a:pt x="1473996" y="1823720"/>
                    <a:pt x="1477806" y="1826260"/>
                  </a:cubicBezTo>
                  <a:cubicBezTo>
                    <a:pt x="1480346" y="1828800"/>
                    <a:pt x="1482886" y="1830070"/>
                    <a:pt x="1485426" y="1830070"/>
                  </a:cubicBezTo>
                  <a:cubicBezTo>
                    <a:pt x="1494316" y="1831340"/>
                    <a:pt x="1504476" y="1830070"/>
                    <a:pt x="1513366" y="1831340"/>
                  </a:cubicBezTo>
                  <a:cubicBezTo>
                    <a:pt x="1520986" y="1832610"/>
                    <a:pt x="1528606" y="1830070"/>
                    <a:pt x="1533686" y="1824990"/>
                  </a:cubicBezTo>
                  <a:cubicBezTo>
                    <a:pt x="1538766" y="1819910"/>
                    <a:pt x="1542576" y="1819910"/>
                    <a:pt x="1550196" y="1822450"/>
                  </a:cubicBezTo>
                  <a:cubicBezTo>
                    <a:pt x="1556546" y="1824990"/>
                    <a:pt x="1561626" y="1831340"/>
                    <a:pt x="1570516" y="1830070"/>
                  </a:cubicBezTo>
                  <a:cubicBezTo>
                    <a:pt x="1578136" y="1828800"/>
                    <a:pt x="1587026" y="1832610"/>
                    <a:pt x="1595916" y="1828800"/>
                  </a:cubicBezTo>
                  <a:lnTo>
                    <a:pt x="1600996" y="1828800"/>
                  </a:lnTo>
                  <a:cubicBezTo>
                    <a:pt x="1608616" y="1831340"/>
                    <a:pt x="1616236" y="1832610"/>
                    <a:pt x="1622586" y="1838960"/>
                  </a:cubicBezTo>
                  <a:cubicBezTo>
                    <a:pt x="1630206" y="1845310"/>
                    <a:pt x="1631476" y="1798320"/>
                    <a:pt x="1639096" y="1803400"/>
                  </a:cubicBezTo>
                  <a:cubicBezTo>
                    <a:pt x="1650526" y="1811020"/>
                    <a:pt x="1647986" y="1803400"/>
                    <a:pt x="1659416" y="1809750"/>
                  </a:cubicBezTo>
                  <a:cubicBezTo>
                    <a:pt x="1668306" y="1813560"/>
                    <a:pt x="1664496" y="1799590"/>
                    <a:pt x="1674656" y="1802130"/>
                  </a:cubicBezTo>
                  <a:cubicBezTo>
                    <a:pt x="1675926" y="1802130"/>
                    <a:pt x="1691166" y="1812290"/>
                    <a:pt x="1691166" y="1811020"/>
                  </a:cubicBezTo>
                  <a:cubicBezTo>
                    <a:pt x="1697516" y="1807210"/>
                    <a:pt x="1703866" y="1769110"/>
                    <a:pt x="1710216" y="1770380"/>
                  </a:cubicBezTo>
                  <a:cubicBezTo>
                    <a:pt x="1722916" y="1774190"/>
                    <a:pt x="1734346" y="1771650"/>
                    <a:pt x="1745776" y="1766570"/>
                  </a:cubicBezTo>
                  <a:cubicBezTo>
                    <a:pt x="1752126" y="1764030"/>
                    <a:pt x="1762286" y="1755140"/>
                    <a:pt x="1767366" y="1758950"/>
                  </a:cubicBezTo>
                  <a:cubicBezTo>
                    <a:pt x="1776256" y="1765300"/>
                    <a:pt x="1785146" y="1767840"/>
                    <a:pt x="1795306" y="1769110"/>
                  </a:cubicBezTo>
                  <a:cubicBezTo>
                    <a:pt x="1796576" y="1769110"/>
                    <a:pt x="1797846" y="1770380"/>
                    <a:pt x="1799116" y="1771650"/>
                  </a:cubicBezTo>
                  <a:cubicBezTo>
                    <a:pt x="1802926" y="1776730"/>
                    <a:pt x="1820706" y="1762760"/>
                    <a:pt x="1824516" y="1767840"/>
                  </a:cubicBezTo>
                  <a:cubicBezTo>
                    <a:pt x="1829596" y="1775460"/>
                    <a:pt x="1834676" y="1783080"/>
                    <a:pt x="1839756" y="1789430"/>
                  </a:cubicBezTo>
                  <a:cubicBezTo>
                    <a:pt x="1842296" y="1791970"/>
                    <a:pt x="1846106" y="1793240"/>
                    <a:pt x="1847376" y="1795780"/>
                  </a:cubicBezTo>
                  <a:cubicBezTo>
                    <a:pt x="1848646" y="1802130"/>
                    <a:pt x="1851186" y="1804670"/>
                    <a:pt x="1857536" y="1804670"/>
                  </a:cubicBezTo>
                  <a:cubicBezTo>
                    <a:pt x="1861346" y="1804670"/>
                    <a:pt x="1865156" y="1805940"/>
                    <a:pt x="1867696" y="1808480"/>
                  </a:cubicBezTo>
                  <a:cubicBezTo>
                    <a:pt x="1874046" y="1812290"/>
                    <a:pt x="1879126" y="1816100"/>
                    <a:pt x="1884206" y="1819910"/>
                  </a:cubicBezTo>
                  <a:cubicBezTo>
                    <a:pt x="1890556" y="1823720"/>
                    <a:pt x="1896906" y="1827530"/>
                    <a:pt x="1899446" y="1833880"/>
                  </a:cubicBezTo>
                  <a:cubicBezTo>
                    <a:pt x="1900716" y="1836420"/>
                    <a:pt x="1901986" y="1837690"/>
                    <a:pt x="1903256" y="1838960"/>
                  </a:cubicBezTo>
                  <a:cubicBezTo>
                    <a:pt x="1908336" y="1844040"/>
                    <a:pt x="1913416" y="1847850"/>
                    <a:pt x="1918496" y="1852930"/>
                  </a:cubicBezTo>
                  <a:cubicBezTo>
                    <a:pt x="1926116" y="1859280"/>
                    <a:pt x="1932466" y="1866900"/>
                    <a:pt x="1940086" y="1873250"/>
                  </a:cubicBezTo>
                  <a:cubicBezTo>
                    <a:pt x="1942626" y="1874520"/>
                    <a:pt x="1945166" y="1877060"/>
                    <a:pt x="1947706" y="1878330"/>
                  </a:cubicBezTo>
                  <a:cubicBezTo>
                    <a:pt x="1952786" y="1880870"/>
                    <a:pt x="1957866" y="1883410"/>
                    <a:pt x="1961676" y="1887220"/>
                  </a:cubicBezTo>
                  <a:cubicBezTo>
                    <a:pt x="1965486" y="1891030"/>
                    <a:pt x="1983266" y="1868170"/>
                    <a:pt x="1985806" y="1873250"/>
                  </a:cubicBezTo>
                  <a:cubicBezTo>
                    <a:pt x="1985806" y="1874520"/>
                    <a:pt x="1987076" y="1874520"/>
                    <a:pt x="1988346" y="1874520"/>
                  </a:cubicBezTo>
                  <a:cubicBezTo>
                    <a:pt x="1995966" y="1880870"/>
                    <a:pt x="2003586" y="1878330"/>
                    <a:pt x="2011206" y="1875790"/>
                  </a:cubicBezTo>
                  <a:cubicBezTo>
                    <a:pt x="2013746" y="1874520"/>
                    <a:pt x="2016286" y="1873250"/>
                    <a:pt x="2017556" y="1874520"/>
                  </a:cubicBezTo>
                  <a:cubicBezTo>
                    <a:pt x="2026446" y="1878330"/>
                    <a:pt x="2032796" y="1887220"/>
                    <a:pt x="2044226" y="1888490"/>
                  </a:cubicBezTo>
                  <a:cubicBezTo>
                    <a:pt x="2044226" y="1888490"/>
                    <a:pt x="2045496" y="1888490"/>
                    <a:pt x="2045496" y="1889760"/>
                  </a:cubicBezTo>
                  <a:cubicBezTo>
                    <a:pt x="2048036" y="1897380"/>
                    <a:pt x="2055656" y="1897380"/>
                    <a:pt x="2062006" y="1898650"/>
                  </a:cubicBezTo>
                  <a:cubicBezTo>
                    <a:pt x="2065816" y="1898650"/>
                    <a:pt x="2069626" y="1899920"/>
                    <a:pt x="2072166" y="1901190"/>
                  </a:cubicBezTo>
                  <a:cubicBezTo>
                    <a:pt x="2079786" y="1905000"/>
                    <a:pt x="2087406" y="1910080"/>
                    <a:pt x="2096296" y="1912620"/>
                  </a:cubicBezTo>
                  <a:cubicBezTo>
                    <a:pt x="2107726" y="1916430"/>
                    <a:pt x="2119156" y="1918970"/>
                    <a:pt x="2128046" y="1925320"/>
                  </a:cubicBezTo>
                  <a:cubicBezTo>
                    <a:pt x="2129316" y="1925320"/>
                    <a:pt x="2130586" y="1925320"/>
                    <a:pt x="2130586" y="1926590"/>
                  </a:cubicBezTo>
                  <a:cubicBezTo>
                    <a:pt x="2134396" y="1929130"/>
                    <a:pt x="2140746" y="1930400"/>
                    <a:pt x="2143286" y="1934210"/>
                  </a:cubicBezTo>
                  <a:cubicBezTo>
                    <a:pt x="2147096" y="1941830"/>
                    <a:pt x="2157256" y="1940560"/>
                    <a:pt x="2162336" y="1946910"/>
                  </a:cubicBezTo>
                  <a:lnTo>
                    <a:pt x="2163606" y="1946910"/>
                  </a:lnTo>
                  <a:cubicBezTo>
                    <a:pt x="2168686" y="1946910"/>
                    <a:pt x="2173766" y="1948180"/>
                    <a:pt x="2180116" y="1948180"/>
                  </a:cubicBezTo>
                  <a:cubicBezTo>
                    <a:pt x="2182656" y="1946910"/>
                    <a:pt x="2186466" y="1944370"/>
                    <a:pt x="2189006" y="1944370"/>
                  </a:cubicBezTo>
                  <a:cubicBezTo>
                    <a:pt x="2200436" y="1948180"/>
                    <a:pt x="2211866" y="1948180"/>
                    <a:pt x="2219486" y="1938020"/>
                  </a:cubicBezTo>
                  <a:cubicBezTo>
                    <a:pt x="2220756" y="1936750"/>
                    <a:pt x="2223296" y="1936750"/>
                    <a:pt x="2225836" y="1936750"/>
                  </a:cubicBezTo>
                  <a:lnTo>
                    <a:pt x="2235996" y="1936750"/>
                  </a:lnTo>
                  <a:cubicBezTo>
                    <a:pt x="2247426" y="1934210"/>
                    <a:pt x="2257586" y="1931670"/>
                    <a:pt x="2269016" y="1930400"/>
                  </a:cubicBezTo>
                  <a:cubicBezTo>
                    <a:pt x="2274096" y="1929130"/>
                    <a:pt x="2280446" y="1931670"/>
                    <a:pt x="2285526" y="1932940"/>
                  </a:cubicBezTo>
                  <a:cubicBezTo>
                    <a:pt x="2290606" y="1934210"/>
                    <a:pt x="2295686" y="1934210"/>
                    <a:pt x="2300766" y="1934210"/>
                  </a:cubicBezTo>
                  <a:cubicBezTo>
                    <a:pt x="2307116" y="1934210"/>
                    <a:pt x="2312196" y="1931670"/>
                    <a:pt x="2318546" y="1931670"/>
                  </a:cubicBezTo>
                  <a:cubicBezTo>
                    <a:pt x="2323626" y="1930400"/>
                    <a:pt x="2329976" y="1930400"/>
                    <a:pt x="2335056" y="1929130"/>
                  </a:cubicBezTo>
                  <a:cubicBezTo>
                    <a:pt x="2346486" y="1926590"/>
                    <a:pt x="2356646" y="1924050"/>
                    <a:pt x="2368076" y="1922780"/>
                  </a:cubicBezTo>
                  <a:cubicBezTo>
                    <a:pt x="2375696" y="1879600"/>
                    <a:pt x="2374426" y="1828800"/>
                    <a:pt x="2374426" y="1776730"/>
                  </a:cubicBezTo>
                  <a:close/>
                </a:path>
              </a:pathLst>
            </a:custGeom>
            <a:blipFill>
              <a:blip r:embed="rId9"/>
              <a:stretch>
                <a:fillRect l="0" t="-212" r="0" b="-1804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52647" y="891816"/>
            <a:ext cx="95229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Fe</a:t>
            </a: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ature Engineering &amp; 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44400"/>
            <a:ext cx="9040275" cy="474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new insightful columns:</a:t>
            </a:r>
          </a:p>
          <a:p>
            <a:pPr algn="ctr">
              <a:lnSpc>
                <a:spcPts val="3726"/>
              </a:lnSpc>
            </a:pPr>
            <a:r>
              <a:rPr lang="en-US" sz="27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Delay_Minutes, Booking_Lead_Time, Route, Day Name, Is_Weekend, Part_of_Day, Is_Rush_Hour, Is_Cancellati</a:t>
            </a:r>
            <a:r>
              <a:rPr lang="en-US" b="true" sz="27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</a:t>
            </a:r>
            <a:r>
              <a:rPr lang="en-US" sz="27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n,</a:t>
            </a:r>
            <a:r>
              <a:rPr lang="en-US" b="true" sz="27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7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27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</a:t>
            </a:r>
            <a:r>
              <a:rPr lang="en-US" sz="27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27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sz="27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rfor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med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n-d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pt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h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Expl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orat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ory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Dat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Analysis (EDA) 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 u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ov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patte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rns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and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liminary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in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ghts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us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in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Python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Deliverable: Analysis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eb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oo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k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w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it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ne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w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f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eat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ures</a:t>
            </a:r>
          </a:p>
          <a:p>
            <a:pPr algn="ctr">
              <a:lnSpc>
                <a:spcPts val="345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4" y="-3908671"/>
            <a:ext cx="22793852" cy="16369030"/>
          </a:xfrm>
          <a:custGeom>
            <a:avLst/>
            <a:gdLst/>
            <a:ahLst/>
            <a:cxnLst/>
            <a:rect r="r" b="b" t="t" l="l"/>
            <a:pathLst>
              <a:path h="16369030" w="22793852">
                <a:moveTo>
                  <a:pt x="0" y="0"/>
                </a:moveTo>
                <a:lnTo>
                  <a:pt x="22793851" y="0"/>
                </a:lnTo>
                <a:lnTo>
                  <a:pt x="22793851" y="16369029"/>
                </a:lnTo>
                <a:lnTo>
                  <a:pt x="0" y="1636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2" y="473158"/>
            <a:ext cx="3427045" cy="2513716"/>
          </a:xfrm>
          <a:custGeom>
            <a:avLst/>
            <a:gdLst/>
            <a:ahLst/>
            <a:cxnLst/>
            <a:rect r="r" b="b" t="t" l="l"/>
            <a:pathLst>
              <a:path h="2513716" w="3427045">
                <a:moveTo>
                  <a:pt x="0" y="0"/>
                </a:moveTo>
                <a:lnTo>
                  <a:pt x="3427045" y="0"/>
                </a:lnTo>
                <a:lnTo>
                  <a:pt x="3427045" y="2513716"/>
                </a:lnTo>
                <a:lnTo>
                  <a:pt x="0" y="2513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504" y="705040"/>
            <a:ext cx="17097024" cy="8965160"/>
          </a:xfrm>
          <a:custGeom>
            <a:avLst/>
            <a:gdLst/>
            <a:ahLst/>
            <a:cxnLst/>
            <a:rect r="r" b="b" t="t" l="l"/>
            <a:pathLst>
              <a:path h="8965160" w="17097024">
                <a:moveTo>
                  <a:pt x="0" y="0"/>
                </a:moveTo>
                <a:lnTo>
                  <a:pt x="17097024" y="0"/>
                </a:lnTo>
                <a:lnTo>
                  <a:pt x="17097024" y="8965160"/>
                </a:lnTo>
                <a:lnTo>
                  <a:pt x="0" y="8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68975" y="2603324"/>
            <a:ext cx="7622932" cy="6041174"/>
          </a:xfrm>
          <a:custGeom>
            <a:avLst/>
            <a:gdLst/>
            <a:ahLst/>
            <a:cxnLst/>
            <a:rect r="r" b="b" t="t" l="l"/>
            <a:pathLst>
              <a:path h="6041174" w="7622932">
                <a:moveTo>
                  <a:pt x="0" y="0"/>
                </a:moveTo>
                <a:lnTo>
                  <a:pt x="7622932" y="0"/>
                </a:lnTo>
                <a:lnTo>
                  <a:pt x="7622932" y="6041173"/>
                </a:lnTo>
                <a:lnTo>
                  <a:pt x="0" y="60411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2647" y="891816"/>
            <a:ext cx="952292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ata Modeling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76607"/>
            <a:ext cx="9040275" cy="404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Build star schem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 in Power BI</a:t>
            </a:r>
          </a:p>
          <a:p>
            <a:pPr algn="just">
              <a:lnSpc>
                <a:spcPts val="3588"/>
              </a:lnSpc>
            </a:pPr>
            <a:r>
              <a:rPr lang="en-US" sz="26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    </a:t>
            </a: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# Create dimension tables</a:t>
            </a:r>
          </a:p>
          <a:p>
            <a:pPr algn="just">
              <a:lnSpc>
                <a:spcPts val="3588"/>
              </a:lnSpc>
            </a:pP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    </a:t>
            </a: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Dim_Dates = df[['Date of Travel']].d</a:t>
            </a: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rop_duplicates()</a:t>
            </a:r>
          </a:p>
          <a:p>
            <a:pPr algn="just">
              <a:lnSpc>
                <a:spcPts val="3588"/>
              </a:lnSpc>
            </a:pP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    </a:t>
            </a: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Dim_Journey = df[['From','To']].drop_duplicates()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ef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ine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KPI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  <a:p>
            <a:pPr algn="l">
              <a:lnSpc>
                <a:spcPts val="3588"/>
              </a:lnSpc>
            </a:pPr>
            <a:r>
              <a:rPr lang="en-US" sz="2600" b="true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      </a:t>
            </a: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Total_T</a:t>
            </a: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ickets = df['Ticket ID'].count()</a:t>
            </a:r>
          </a:p>
          <a:p>
            <a:pPr algn="l">
              <a:lnSpc>
                <a:spcPts val="3588"/>
              </a:lnSpc>
            </a:pP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     </a:t>
            </a: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On_Tim</a:t>
            </a: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e_Percentage = (df['Sta</a:t>
            </a:r>
            <a:r>
              <a:rPr lang="en-US" sz="2600" i="true" b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tus'] == 'On     </a:t>
            </a:r>
          </a:p>
          <a:p>
            <a:pPr algn="l">
              <a:lnSpc>
                <a:spcPts val="3588"/>
              </a:lnSpc>
            </a:pP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     </a:t>
            </a:r>
            <a:r>
              <a:rPr lang="en-US" b="true" sz="2600" i="true">
                <a:solidFill>
                  <a:srgbClr val="334157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Time').mean() * 100</a:t>
            </a:r>
          </a:p>
          <a:p>
            <a:pPr algn="ctr">
              <a:lnSpc>
                <a:spcPts val="317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49784" y="-3908671"/>
            <a:ext cx="22793852" cy="16369030"/>
          </a:xfrm>
          <a:custGeom>
            <a:avLst/>
            <a:gdLst/>
            <a:ahLst/>
            <a:cxnLst/>
            <a:rect r="r" b="b" t="t" l="l"/>
            <a:pathLst>
              <a:path h="16369030" w="22793852">
                <a:moveTo>
                  <a:pt x="0" y="0"/>
                </a:moveTo>
                <a:lnTo>
                  <a:pt x="22793851" y="0"/>
                </a:lnTo>
                <a:lnTo>
                  <a:pt x="22793851" y="16369029"/>
                </a:lnTo>
                <a:lnTo>
                  <a:pt x="0" y="1636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5982" y="473158"/>
            <a:ext cx="3427045" cy="2513716"/>
          </a:xfrm>
          <a:custGeom>
            <a:avLst/>
            <a:gdLst/>
            <a:ahLst/>
            <a:cxnLst/>
            <a:rect r="r" b="b" t="t" l="l"/>
            <a:pathLst>
              <a:path h="2513716" w="3427045">
                <a:moveTo>
                  <a:pt x="0" y="0"/>
                </a:moveTo>
                <a:lnTo>
                  <a:pt x="3427045" y="0"/>
                </a:lnTo>
                <a:lnTo>
                  <a:pt x="3427045" y="2513716"/>
                </a:lnTo>
                <a:lnTo>
                  <a:pt x="0" y="2513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488" y="660920"/>
            <a:ext cx="17097024" cy="8965160"/>
          </a:xfrm>
          <a:custGeom>
            <a:avLst/>
            <a:gdLst/>
            <a:ahLst/>
            <a:cxnLst/>
            <a:rect r="r" b="b" t="t" l="l"/>
            <a:pathLst>
              <a:path h="8965160" w="17097024">
                <a:moveTo>
                  <a:pt x="0" y="0"/>
                </a:moveTo>
                <a:lnTo>
                  <a:pt x="17097024" y="0"/>
                </a:lnTo>
                <a:lnTo>
                  <a:pt x="17097024" y="8965160"/>
                </a:lnTo>
                <a:lnTo>
                  <a:pt x="0" y="896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3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179414"/>
            <a:ext cx="8815175" cy="484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Create interactive dashboards in Power BI</a:t>
            </a:r>
          </a:p>
          <a:p>
            <a:pPr algn="l">
              <a:lnSpc>
                <a:spcPts val="3863"/>
              </a:lnSpc>
            </a:pP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Develop key DAX measures for KPIs</a:t>
            </a:r>
          </a:p>
          <a:p>
            <a:pPr algn="ctr">
              <a:lnSpc>
                <a:spcPts val="3863"/>
              </a:lnSpc>
            </a:pP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Incorporate advanced UI features (Navigation Panels, Bookmarks, Tooltips)</a:t>
            </a:r>
          </a:p>
          <a:p>
            <a:pPr algn="l">
              <a:lnSpc>
                <a:spcPts val="3863"/>
              </a:lnSpc>
            </a:pP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 i="true">
                <a:solidFill>
                  <a:srgbClr val="33415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Deliverable: Final .pbix Dashboard</a:t>
            </a:r>
          </a:p>
          <a:p>
            <a:pPr algn="ctr">
              <a:lnSpc>
                <a:spcPts val="3863"/>
              </a:lnSpc>
            </a:pPr>
          </a:p>
          <a:p>
            <a:pPr algn="ctr">
              <a:lnSpc>
                <a:spcPts val="3863"/>
              </a:lnSpc>
            </a:pP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28188" y="812488"/>
            <a:ext cx="13464624" cy="1035604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52647" y="891816"/>
            <a:ext cx="9522927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Visualization &amp; </a:t>
            </a: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5500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ashboard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85231" y="-3683203"/>
            <a:ext cx="24770819" cy="19524303"/>
          </a:xfrm>
          <a:custGeom>
            <a:avLst/>
            <a:gdLst/>
            <a:ahLst/>
            <a:cxnLst/>
            <a:rect r="r" b="b" t="t" l="l"/>
            <a:pathLst>
              <a:path h="19524303" w="24770819">
                <a:moveTo>
                  <a:pt x="0" y="0"/>
                </a:moveTo>
                <a:lnTo>
                  <a:pt x="24770819" y="0"/>
                </a:lnTo>
                <a:lnTo>
                  <a:pt x="24770819" y="19524302"/>
                </a:lnTo>
                <a:lnTo>
                  <a:pt x="0" y="19524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436" y="8385042"/>
            <a:ext cx="1771500" cy="1145364"/>
          </a:xfrm>
          <a:custGeom>
            <a:avLst/>
            <a:gdLst/>
            <a:ahLst/>
            <a:cxnLst/>
            <a:rect r="r" b="b" t="t" l="l"/>
            <a:pathLst>
              <a:path h="1145364" w="1771500">
                <a:moveTo>
                  <a:pt x="0" y="0"/>
                </a:moveTo>
                <a:lnTo>
                  <a:pt x="1771500" y="0"/>
                </a:lnTo>
                <a:lnTo>
                  <a:pt x="1771500" y="1145364"/>
                </a:lnTo>
                <a:lnTo>
                  <a:pt x="0" y="11453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52578" y="9870250"/>
            <a:ext cx="159628" cy="166804"/>
            <a:chOff x="0" y="0"/>
            <a:chExt cx="212837" cy="222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852" cy="222377"/>
            </a:xfrm>
            <a:custGeom>
              <a:avLst/>
              <a:gdLst/>
              <a:ahLst/>
              <a:cxnLst/>
              <a:rect r="r" b="b" t="t" l="l"/>
              <a:pathLst>
                <a:path h="222377" w="212852">
                  <a:moveTo>
                    <a:pt x="0" y="0"/>
                  </a:moveTo>
                  <a:lnTo>
                    <a:pt x="212852" y="222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2769631">
            <a:off x="2617167" y="9953350"/>
            <a:ext cx="23042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622086" y="9839758"/>
            <a:ext cx="222404" cy="225992"/>
            <a:chOff x="0" y="0"/>
            <a:chExt cx="296539" cy="301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6545" cy="301371"/>
            </a:xfrm>
            <a:custGeom>
              <a:avLst/>
              <a:gdLst/>
              <a:ahLst/>
              <a:cxnLst/>
              <a:rect r="r" b="b" t="t" l="l"/>
              <a:pathLst>
                <a:path h="301371" w="296545">
                  <a:moveTo>
                    <a:pt x="212852" y="301371"/>
                  </a:moveTo>
                  <a:lnTo>
                    <a:pt x="296545" y="222504"/>
                  </a:lnTo>
                  <a:lnTo>
                    <a:pt x="86106" y="0"/>
                  </a:lnTo>
                  <a:lnTo>
                    <a:pt x="0" y="78867"/>
                  </a:lnTo>
                  <a:lnTo>
                    <a:pt x="212852" y="301371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731494" y="9952754"/>
            <a:ext cx="588292" cy="616992"/>
          </a:xfrm>
          <a:custGeom>
            <a:avLst/>
            <a:gdLst/>
            <a:ahLst/>
            <a:cxnLst/>
            <a:rect r="r" b="b" t="t" l="l"/>
            <a:pathLst>
              <a:path h="616992" w="588292">
                <a:moveTo>
                  <a:pt x="0" y="0"/>
                </a:moveTo>
                <a:lnTo>
                  <a:pt x="588292" y="0"/>
                </a:lnTo>
                <a:lnTo>
                  <a:pt x="588292" y="616992"/>
                </a:lnTo>
                <a:lnTo>
                  <a:pt x="0" y="6169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31494" y="10103416"/>
            <a:ext cx="586500" cy="457362"/>
            <a:chOff x="0" y="0"/>
            <a:chExt cx="782000" cy="6098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2066" cy="609854"/>
            </a:xfrm>
            <a:custGeom>
              <a:avLst/>
              <a:gdLst/>
              <a:ahLst/>
              <a:cxnLst/>
              <a:rect r="r" b="b" t="t" l="l"/>
              <a:pathLst>
                <a:path h="609854" w="782066">
                  <a:moveTo>
                    <a:pt x="0" y="0"/>
                  </a:moveTo>
                  <a:cubicBezTo>
                    <a:pt x="554863" y="583565"/>
                    <a:pt x="554863" y="583565"/>
                    <a:pt x="554863" y="583565"/>
                  </a:cubicBezTo>
                  <a:cubicBezTo>
                    <a:pt x="570103" y="601091"/>
                    <a:pt x="594233" y="609854"/>
                    <a:pt x="616077" y="609854"/>
                  </a:cubicBezTo>
                  <a:cubicBezTo>
                    <a:pt x="635762" y="609854"/>
                    <a:pt x="655447" y="603250"/>
                    <a:pt x="670687" y="588010"/>
                  </a:cubicBezTo>
                  <a:cubicBezTo>
                    <a:pt x="701294" y="559562"/>
                    <a:pt x="701294" y="559562"/>
                    <a:pt x="701294" y="559562"/>
                  </a:cubicBezTo>
                  <a:cubicBezTo>
                    <a:pt x="758063" y="504952"/>
                    <a:pt x="758063" y="504952"/>
                    <a:pt x="758063" y="504952"/>
                  </a:cubicBezTo>
                  <a:cubicBezTo>
                    <a:pt x="775589" y="489712"/>
                    <a:pt x="782066" y="467741"/>
                    <a:pt x="782066" y="448183"/>
                  </a:cubicBezTo>
                  <a:cubicBezTo>
                    <a:pt x="782066" y="448183"/>
                    <a:pt x="782066" y="446024"/>
                    <a:pt x="782066" y="44602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C69B2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816772" y="9023682"/>
            <a:ext cx="966734" cy="963152"/>
          </a:xfrm>
          <a:custGeom>
            <a:avLst/>
            <a:gdLst/>
            <a:ahLst/>
            <a:cxnLst/>
            <a:rect r="r" b="b" t="t" l="l"/>
            <a:pathLst>
              <a:path h="963152" w="966734">
                <a:moveTo>
                  <a:pt x="0" y="0"/>
                </a:moveTo>
                <a:lnTo>
                  <a:pt x="966734" y="0"/>
                </a:lnTo>
                <a:lnTo>
                  <a:pt x="966734" y="963152"/>
                </a:lnTo>
                <a:lnTo>
                  <a:pt x="0" y="9631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037380" y="9102600"/>
            <a:ext cx="728192" cy="884234"/>
            <a:chOff x="0" y="0"/>
            <a:chExt cx="970923" cy="11789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915" cy="1179068"/>
            </a:xfrm>
            <a:custGeom>
              <a:avLst/>
              <a:gdLst/>
              <a:ahLst/>
              <a:cxnLst/>
              <a:rect r="r" b="b" t="t" l="l"/>
              <a:pathLst>
                <a:path h="1179068" w="970915">
                  <a:moveTo>
                    <a:pt x="970915" y="366776"/>
                  </a:moveTo>
                  <a:cubicBezTo>
                    <a:pt x="443865" y="1172464"/>
                    <a:pt x="443865" y="1172464"/>
                    <a:pt x="443865" y="1172464"/>
                  </a:cubicBezTo>
                  <a:cubicBezTo>
                    <a:pt x="413258" y="1176782"/>
                    <a:pt x="382651" y="1179068"/>
                    <a:pt x="352044" y="1179068"/>
                  </a:cubicBezTo>
                  <a:cubicBezTo>
                    <a:pt x="220853" y="1179068"/>
                    <a:pt x="100584" y="1141984"/>
                    <a:pt x="0" y="1076452"/>
                  </a:cubicBezTo>
                  <a:cubicBezTo>
                    <a:pt x="706374" y="0"/>
                    <a:pt x="706374" y="0"/>
                    <a:pt x="706374" y="0"/>
                  </a:cubicBezTo>
                  <a:cubicBezTo>
                    <a:pt x="833120" y="85090"/>
                    <a:pt x="929386" y="213995"/>
                    <a:pt x="970915" y="366776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54436" y="9023682"/>
            <a:ext cx="608022" cy="812492"/>
            <a:chOff x="0" y="0"/>
            <a:chExt cx="810696" cy="10833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641" cy="1083310"/>
            </a:xfrm>
            <a:custGeom>
              <a:avLst/>
              <a:gdLst/>
              <a:ahLst/>
              <a:cxnLst/>
              <a:rect r="r" b="b" t="t" l="l"/>
              <a:pathLst>
                <a:path h="1083310" w="810641">
                  <a:moveTo>
                    <a:pt x="810641" y="37084"/>
                  </a:moveTo>
                  <a:cubicBezTo>
                    <a:pt x="126746" y="1083310"/>
                    <a:pt x="126746" y="1083310"/>
                    <a:pt x="126746" y="1083310"/>
                  </a:cubicBezTo>
                  <a:cubicBezTo>
                    <a:pt x="72136" y="1028700"/>
                    <a:pt x="30607" y="963168"/>
                    <a:pt x="0" y="891159"/>
                  </a:cubicBezTo>
                  <a:cubicBezTo>
                    <a:pt x="583438" y="0"/>
                    <a:pt x="583438" y="0"/>
                    <a:pt x="583438" y="0"/>
                  </a:cubicBezTo>
                  <a:cubicBezTo>
                    <a:pt x="585597" y="0"/>
                    <a:pt x="590042" y="0"/>
                    <a:pt x="594360" y="0"/>
                  </a:cubicBezTo>
                  <a:cubicBezTo>
                    <a:pt x="670814" y="0"/>
                    <a:pt x="742950" y="13081"/>
                    <a:pt x="810641" y="37084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0460" y="8885576"/>
            <a:ext cx="1237566" cy="1237566"/>
            <a:chOff x="0" y="0"/>
            <a:chExt cx="1650088" cy="16500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9272" y="99693"/>
              <a:ext cx="1451386" cy="1452020"/>
            </a:xfrm>
            <a:custGeom>
              <a:avLst/>
              <a:gdLst/>
              <a:ahLst/>
              <a:cxnLst/>
              <a:rect r="r" b="b" t="t" l="l"/>
              <a:pathLst>
                <a:path h="1452020" w="1451386">
                  <a:moveTo>
                    <a:pt x="438319" y="1393065"/>
                  </a:moveTo>
                  <a:cubicBezTo>
                    <a:pt x="805476" y="1550418"/>
                    <a:pt x="1231688" y="1382143"/>
                    <a:pt x="1391200" y="1014986"/>
                  </a:cubicBezTo>
                  <a:cubicBezTo>
                    <a:pt x="1550712" y="647829"/>
                    <a:pt x="1382437" y="219458"/>
                    <a:pt x="1013121" y="59946"/>
                  </a:cubicBezTo>
                  <a:cubicBezTo>
                    <a:pt x="645964" y="-99693"/>
                    <a:pt x="219879" y="70741"/>
                    <a:pt x="60240" y="437898"/>
                  </a:cubicBezTo>
                  <a:cubicBezTo>
                    <a:pt x="-99399" y="805055"/>
                    <a:pt x="69003" y="1233426"/>
                    <a:pt x="438319" y="1392938"/>
                  </a:cubicBezTo>
                  <a:close/>
                  <a:moveTo>
                    <a:pt x="1268772" y="960249"/>
                  </a:moveTo>
                  <a:cubicBezTo>
                    <a:pt x="1137581" y="1259715"/>
                    <a:pt x="790109" y="1397383"/>
                    <a:pt x="490770" y="1268351"/>
                  </a:cubicBezTo>
                  <a:cubicBezTo>
                    <a:pt x="191431" y="1139319"/>
                    <a:pt x="53763" y="789815"/>
                    <a:pt x="182668" y="492635"/>
                  </a:cubicBezTo>
                  <a:cubicBezTo>
                    <a:pt x="313859" y="193169"/>
                    <a:pt x="661331" y="55501"/>
                    <a:pt x="960670" y="184406"/>
                  </a:cubicBezTo>
                  <a:cubicBezTo>
                    <a:pt x="1260009" y="313311"/>
                    <a:pt x="1397804" y="663069"/>
                    <a:pt x="1268772" y="960249"/>
                  </a:cubicBezTo>
                  <a:close/>
                </a:path>
              </a:pathLst>
            </a:custGeom>
            <a:solidFill>
              <a:srgbClr val="FFC53A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108526" y="237956"/>
            <a:ext cx="14779659" cy="9714798"/>
          </a:xfrm>
          <a:custGeom>
            <a:avLst/>
            <a:gdLst/>
            <a:ahLst/>
            <a:cxnLst/>
            <a:rect r="r" b="b" t="t" l="l"/>
            <a:pathLst>
              <a:path h="9714798" w="14779659">
                <a:moveTo>
                  <a:pt x="0" y="0"/>
                </a:moveTo>
                <a:lnTo>
                  <a:pt x="14779659" y="0"/>
                </a:lnTo>
                <a:lnTo>
                  <a:pt x="14779659" y="9714798"/>
                </a:lnTo>
                <a:lnTo>
                  <a:pt x="0" y="97147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31425" y="924325"/>
            <a:ext cx="1522515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64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ashboard Highlights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8569" y="5639640"/>
            <a:ext cx="6100950" cy="338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Refund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fu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nd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te: 3.54% (164 requests)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Main reasons: Cancellation 52.44%, Delay 47.56%</a:t>
            </a:r>
          </a:p>
          <a:p>
            <a:pPr algn="l" marL="604520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Most refunded: Standard clas</a:t>
            </a:r>
          </a:p>
          <a:p>
            <a:pPr algn="l">
              <a:lnSpc>
                <a:spcPts val="386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048569" y="2197088"/>
            <a:ext cx="6551151" cy="289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</a:t>
            </a:r>
            <a:r>
              <a:rPr lang="en-US" b="true" sz="2799">
                <a:solidFill>
                  <a:srgbClr val="334157"/>
                </a:solidFill>
                <a:latin typeface="DM Sans Bold"/>
                <a:ea typeface="DM Sans Bold"/>
                <a:cs typeface="DM Sans Bold"/>
                <a:sym typeface="DM Sans Bold"/>
              </a:rPr>
              <a:t>ance &amp; Delays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On-time t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ips: 90.68%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ye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5.34%; Can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le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d: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3.98%</a:t>
            </a:r>
          </a:p>
          <a:p>
            <a:pPr algn="l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 de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ay caus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279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: Signal, Staff, Weather</a:t>
            </a:r>
          </a:p>
          <a:p>
            <a:pPr algn="l">
              <a:lnSpc>
                <a:spcPts val="3863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191586"/>
            <a:ext cx="7178821" cy="334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b="true" sz="2746">
                <a:solidFill>
                  <a:srgbClr val="334157"/>
                </a:solidFill>
                <a:latin typeface="Poppins Bold"/>
                <a:ea typeface="Poppins Bold"/>
                <a:cs typeface="Poppins Bold"/>
                <a:sym typeface="Poppins Bold"/>
              </a:rPr>
              <a:t>Tickets &amp; Revenu</a:t>
            </a:r>
            <a:r>
              <a:rPr lang="en-US" b="true" sz="2746">
                <a:solidFill>
                  <a:srgbClr val="334157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</a:p>
          <a:p>
            <a:pPr algn="l" marL="592893" indent="-296447" lvl="1">
              <a:lnSpc>
                <a:spcPts val="3789"/>
              </a:lnSpc>
              <a:buFont typeface="Arial"/>
              <a:buChar char="•"/>
            </a:pPr>
            <a:r>
              <a:rPr lang="en-US" sz="2746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Advance tickets sold: 18K; Peak time: 9K</a:t>
            </a:r>
          </a:p>
          <a:p>
            <a:pPr algn="l" marL="592893" indent="-296447" lvl="1">
              <a:lnSpc>
                <a:spcPts val="3789"/>
              </a:lnSpc>
              <a:buFont typeface="Arial"/>
              <a:buChar char="•"/>
            </a:pPr>
            <a:r>
              <a:rPr lang="en-US" sz="2746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Avg. ticket price: $23.4</a:t>
            </a:r>
          </a:p>
          <a:p>
            <a:pPr algn="l" marL="592893" indent="-296447" lvl="1">
              <a:lnSpc>
                <a:spcPts val="3789"/>
              </a:lnSpc>
              <a:buFont typeface="Arial"/>
              <a:buChar char="•"/>
            </a:pPr>
            <a:r>
              <a:rPr lang="en-US" sz="2746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Highest revenue day: Sunday ($120K)</a:t>
            </a:r>
          </a:p>
          <a:p>
            <a:pPr algn="l" marL="592893" indent="-296447" lvl="1">
              <a:lnSpc>
                <a:spcPts val="3789"/>
              </a:lnSpc>
              <a:buFont typeface="Arial"/>
              <a:buChar char="•"/>
            </a:pPr>
            <a:r>
              <a:rPr lang="en-US" sz="2746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Most profitable route: London → York</a:t>
            </a:r>
          </a:p>
          <a:p>
            <a:pPr algn="l">
              <a:lnSpc>
                <a:spcPts val="378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754077"/>
            <a:ext cx="6100950" cy="234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83" b="true">
                <a:solidFill>
                  <a:srgbClr val="334157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&amp; Payment</a:t>
            </a:r>
          </a:p>
          <a:p>
            <a:pPr algn="l" marL="579279" indent="-289639" lvl="1">
              <a:lnSpc>
                <a:spcPts val="3702"/>
              </a:lnSpc>
              <a:buFont typeface="Arial"/>
              <a:buChar char="•"/>
            </a:pPr>
            <a:r>
              <a:rPr lang="en-US" sz="2683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Online bookings: 19K; Station: 13K</a:t>
            </a:r>
          </a:p>
          <a:p>
            <a:pPr algn="l" marL="579279" indent="-289639" lvl="1">
              <a:lnSpc>
                <a:spcPts val="3702"/>
              </a:lnSpc>
              <a:buFont typeface="Arial"/>
              <a:buChar char="•"/>
            </a:pPr>
            <a:r>
              <a:rPr lang="en-US" sz="2683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On-day bookings highest: 28K</a:t>
            </a:r>
          </a:p>
          <a:p>
            <a:pPr algn="l" marL="579279" indent="-289639" lvl="1">
              <a:lnSpc>
                <a:spcPts val="3702"/>
              </a:lnSpc>
              <a:buFont typeface="Arial"/>
              <a:buChar char="•"/>
            </a:pPr>
            <a:r>
              <a:rPr lang="en-US" sz="2683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Main payments: Debit Card 60.66%, Contactless 34.23%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506717" y="1617862"/>
            <a:ext cx="762936" cy="670326"/>
          </a:xfrm>
          <a:custGeom>
            <a:avLst/>
            <a:gdLst/>
            <a:ahLst/>
            <a:cxnLst/>
            <a:rect r="r" b="b" t="t" l="l"/>
            <a:pathLst>
              <a:path h="670326" w="762936">
                <a:moveTo>
                  <a:pt x="0" y="0"/>
                </a:moveTo>
                <a:lnTo>
                  <a:pt x="762936" y="0"/>
                </a:lnTo>
                <a:lnTo>
                  <a:pt x="762936" y="670326"/>
                </a:lnTo>
                <a:lnTo>
                  <a:pt x="0" y="670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522860" y="1538482"/>
            <a:ext cx="765140" cy="749706"/>
          </a:xfrm>
          <a:custGeom>
            <a:avLst/>
            <a:gdLst/>
            <a:ahLst/>
            <a:cxnLst/>
            <a:rect r="r" b="b" t="t" l="l"/>
            <a:pathLst>
              <a:path h="749706" w="765140">
                <a:moveTo>
                  <a:pt x="0" y="0"/>
                </a:moveTo>
                <a:lnTo>
                  <a:pt x="765140" y="0"/>
                </a:lnTo>
                <a:lnTo>
                  <a:pt x="765140" y="749706"/>
                </a:lnTo>
                <a:lnTo>
                  <a:pt x="0" y="7497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46316" y="-5836311"/>
            <a:ext cx="26580631" cy="20746472"/>
          </a:xfrm>
          <a:custGeom>
            <a:avLst/>
            <a:gdLst/>
            <a:ahLst/>
            <a:cxnLst/>
            <a:rect r="r" b="b" t="t" l="l"/>
            <a:pathLst>
              <a:path h="20746472" w="26580631">
                <a:moveTo>
                  <a:pt x="0" y="0"/>
                </a:moveTo>
                <a:lnTo>
                  <a:pt x="26580632" y="0"/>
                </a:lnTo>
                <a:lnTo>
                  <a:pt x="26580632" y="20746472"/>
                </a:lnTo>
                <a:lnTo>
                  <a:pt x="0" y="20746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4106" y="2337524"/>
            <a:ext cx="1306700" cy="1289580"/>
          </a:xfrm>
          <a:custGeom>
            <a:avLst/>
            <a:gdLst/>
            <a:ahLst/>
            <a:cxnLst/>
            <a:rect r="r" b="b" t="t" l="l"/>
            <a:pathLst>
              <a:path h="1289580" w="1306700">
                <a:moveTo>
                  <a:pt x="0" y="0"/>
                </a:moveTo>
                <a:lnTo>
                  <a:pt x="1306700" y="0"/>
                </a:lnTo>
                <a:lnTo>
                  <a:pt x="1306700" y="1289580"/>
                </a:lnTo>
                <a:lnTo>
                  <a:pt x="0" y="1289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5694" y="1934226"/>
            <a:ext cx="5318836" cy="3437246"/>
          </a:xfrm>
          <a:custGeom>
            <a:avLst/>
            <a:gdLst/>
            <a:ahLst/>
            <a:cxnLst/>
            <a:rect r="r" b="b" t="t" l="l"/>
            <a:pathLst>
              <a:path h="3437246" w="5318836">
                <a:moveTo>
                  <a:pt x="0" y="0"/>
                </a:moveTo>
                <a:lnTo>
                  <a:pt x="5318836" y="0"/>
                </a:lnTo>
                <a:lnTo>
                  <a:pt x="5318836" y="3437246"/>
                </a:lnTo>
                <a:lnTo>
                  <a:pt x="0" y="34372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21302" y="3525014"/>
            <a:ext cx="2407940" cy="5074832"/>
          </a:xfrm>
          <a:custGeom>
            <a:avLst/>
            <a:gdLst/>
            <a:ahLst/>
            <a:cxnLst/>
            <a:rect r="r" b="b" t="t" l="l"/>
            <a:pathLst>
              <a:path h="5074832" w="2407940">
                <a:moveTo>
                  <a:pt x="0" y="0"/>
                </a:moveTo>
                <a:lnTo>
                  <a:pt x="2407940" y="0"/>
                </a:lnTo>
                <a:lnTo>
                  <a:pt x="2407940" y="5074832"/>
                </a:lnTo>
                <a:lnTo>
                  <a:pt x="0" y="50748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5556" y="5737978"/>
            <a:ext cx="943892" cy="1424690"/>
          </a:xfrm>
          <a:custGeom>
            <a:avLst/>
            <a:gdLst/>
            <a:ahLst/>
            <a:cxnLst/>
            <a:rect r="r" b="b" t="t" l="l"/>
            <a:pathLst>
              <a:path h="1424690" w="943892">
                <a:moveTo>
                  <a:pt x="0" y="0"/>
                </a:moveTo>
                <a:lnTo>
                  <a:pt x="943892" y="0"/>
                </a:lnTo>
                <a:lnTo>
                  <a:pt x="943892" y="1424690"/>
                </a:lnTo>
                <a:lnTo>
                  <a:pt x="0" y="1424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60305" y="2437809"/>
            <a:ext cx="180843" cy="188972"/>
            <a:chOff x="0" y="0"/>
            <a:chExt cx="241124" cy="2519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173" cy="251968"/>
            </a:xfrm>
            <a:custGeom>
              <a:avLst/>
              <a:gdLst/>
              <a:ahLst/>
              <a:cxnLst/>
              <a:rect r="r" b="b" t="t" l="l"/>
              <a:pathLst>
                <a:path h="251968" w="241173">
                  <a:moveTo>
                    <a:pt x="0" y="0"/>
                  </a:moveTo>
                  <a:lnTo>
                    <a:pt x="241173" y="251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9" id="9"/>
          <p:cNvSpPr/>
          <p:nvPr/>
        </p:nvSpPr>
        <p:spPr>
          <a:xfrm rot="2769630">
            <a:off x="15920188" y="2531953"/>
            <a:ext cx="26104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5925761" y="2403265"/>
            <a:ext cx="251962" cy="256026"/>
            <a:chOff x="0" y="0"/>
            <a:chExt cx="335949" cy="341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042" cy="341376"/>
            </a:xfrm>
            <a:custGeom>
              <a:avLst/>
              <a:gdLst/>
              <a:ahLst/>
              <a:cxnLst/>
              <a:rect r="r" b="b" t="t" l="l"/>
              <a:pathLst>
                <a:path h="341376" w="336042">
                  <a:moveTo>
                    <a:pt x="241173" y="341376"/>
                  </a:moveTo>
                  <a:lnTo>
                    <a:pt x="336042" y="251968"/>
                  </a:lnTo>
                  <a:lnTo>
                    <a:pt x="97536" y="0"/>
                  </a:lnTo>
                  <a:lnTo>
                    <a:pt x="0" y="89408"/>
                  </a:lnTo>
                  <a:lnTo>
                    <a:pt x="241173" y="341376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49709" y="2531278"/>
            <a:ext cx="666477" cy="698990"/>
          </a:xfrm>
          <a:custGeom>
            <a:avLst/>
            <a:gdLst/>
            <a:ahLst/>
            <a:cxnLst/>
            <a:rect r="r" b="b" t="t" l="l"/>
            <a:pathLst>
              <a:path h="698990" w="666477">
                <a:moveTo>
                  <a:pt x="0" y="0"/>
                </a:moveTo>
                <a:lnTo>
                  <a:pt x="666477" y="0"/>
                </a:lnTo>
                <a:lnTo>
                  <a:pt x="666477" y="698990"/>
                </a:lnTo>
                <a:lnTo>
                  <a:pt x="0" y="698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049709" y="2701963"/>
            <a:ext cx="664446" cy="518145"/>
            <a:chOff x="0" y="0"/>
            <a:chExt cx="885929" cy="690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5952" cy="690880"/>
            </a:xfrm>
            <a:custGeom>
              <a:avLst/>
              <a:gdLst/>
              <a:ahLst/>
              <a:cxnLst/>
              <a:rect r="r" b="b" t="t" l="l"/>
              <a:pathLst>
                <a:path h="690880" w="885952">
                  <a:moveTo>
                    <a:pt x="0" y="0"/>
                  </a:moveTo>
                  <a:cubicBezTo>
                    <a:pt x="628523" y="661162"/>
                    <a:pt x="628523" y="661162"/>
                    <a:pt x="628523" y="661162"/>
                  </a:cubicBezTo>
                  <a:cubicBezTo>
                    <a:pt x="645795" y="680974"/>
                    <a:pt x="673100" y="690880"/>
                    <a:pt x="697865" y="690880"/>
                  </a:cubicBezTo>
                  <a:cubicBezTo>
                    <a:pt x="720090" y="690880"/>
                    <a:pt x="742442" y="683514"/>
                    <a:pt x="759714" y="666115"/>
                  </a:cubicBezTo>
                  <a:cubicBezTo>
                    <a:pt x="794385" y="633984"/>
                    <a:pt x="794385" y="633984"/>
                    <a:pt x="794385" y="633984"/>
                  </a:cubicBezTo>
                  <a:cubicBezTo>
                    <a:pt x="858774" y="572135"/>
                    <a:pt x="858774" y="572135"/>
                    <a:pt x="858774" y="572135"/>
                  </a:cubicBezTo>
                  <a:cubicBezTo>
                    <a:pt x="878586" y="554863"/>
                    <a:pt x="885952" y="530098"/>
                    <a:pt x="885952" y="507746"/>
                  </a:cubicBezTo>
                  <a:cubicBezTo>
                    <a:pt x="885952" y="507746"/>
                    <a:pt x="885952" y="505333"/>
                    <a:pt x="885952" y="50533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C69B2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013420" y="1478732"/>
            <a:ext cx="1095214" cy="1091155"/>
          </a:xfrm>
          <a:custGeom>
            <a:avLst/>
            <a:gdLst/>
            <a:ahLst/>
            <a:cxnLst/>
            <a:rect r="r" b="b" t="t" l="l"/>
            <a:pathLst>
              <a:path h="1091155" w="1095214">
                <a:moveTo>
                  <a:pt x="0" y="0"/>
                </a:moveTo>
                <a:lnTo>
                  <a:pt x="1095214" y="0"/>
                </a:lnTo>
                <a:lnTo>
                  <a:pt x="1095214" y="1091155"/>
                </a:lnTo>
                <a:lnTo>
                  <a:pt x="0" y="10911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263347" y="1568138"/>
            <a:ext cx="824969" cy="1001749"/>
            <a:chOff x="0" y="0"/>
            <a:chExt cx="1099959" cy="13356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947" cy="1335659"/>
            </a:xfrm>
            <a:custGeom>
              <a:avLst/>
              <a:gdLst/>
              <a:ahLst/>
              <a:cxnLst/>
              <a:rect r="r" b="b" t="t" l="l"/>
              <a:pathLst>
                <a:path h="1335659" w="1099947">
                  <a:moveTo>
                    <a:pt x="1099947" y="415544"/>
                  </a:moveTo>
                  <a:cubicBezTo>
                    <a:pt x="502920" y="1328293"/>
                    <a:pt x="502920" y="1328293"/>
                    <a:pt x="502920" y="1328293"/>
                  </a:cubicBezTo>
                  <a:cubicBezTo>
                    <a:pt x="468249" y="1333246"/>
                    <a:pt x="433578" y="1335659"/>
                    <a:pt x="398907" y="1335659"/>
                  </a:cubicBezTo>
                  <a:cubicBezTo>
                    <a:pt x="250317" y="1335659"/>
                    <a:pt x="114046" y="1293622"/>
                    <a:pt x="0" y="1219454"/>
                  </a:cubicBezTo>
                  <a:cubicBezTo>
                    <a:pt x="800227" y="0"/>
                    <a:pt x="800227" y="0"/>
                    <a:pt x="800227" y="0"/>
                  </a:cubicBezTo>
                  <a:cubicBezTo>
                    <a:pt x="943864" y="96520"/>
                    <a:pt x="1052957" y="242443"/>
                    <a:pt x="1099947" y="415544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56090" y="1478732"/>
            <a:ext cx="688829" cy="920472"/>
            <a:chOff x="0" y="0"/>
            <a:chExt cx="918438" cy="12272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8464" cy="1227328"/>
            </a:xfrm>
            <a:custGeom>
              <a:avLst/>
              <a:gdLst/>
              <a:ahLst/>
              <a:cxnLst/>
              <a:rect r="r" b="b" t="t" l="l"/>
              <a:pathLst>
                <a:path h="1227328" w="918464">
                  <a:moveTo>
                    <a:pt x="918464" y="42037"/>
                  </a:moveTo>
                  <a:cubicBezTo>
                    <a:pt x="143637" y="1227328"/>
                    <a:pt x="143637" y="1227328"/>
                    <a:pt x="143637" y="1227328"/>
                  </a:cubicBezTo>
                  <a:cubicBezTo>
                    <a:pt x="81661" y="1165479"/>
                    <a:pt x="34671" y="1091184"/>
                    <a:pt x="0" y="1009523"/>
                  </a:cubicBezTo>
                  <a:cubicBezTo>
                    <a:pt x="661035" y="0"/>
                    <a:pt x="661035" y="0"/>
                    <a:pt x="661035" y="0"/>
                  </a:cubicBezTo>
                  <a:cubicBezTo>
                    <a:pt x="663448" y="0"/>
                    <a:pt x="668401" y="0"/>
                    <a:pt x="673354" y="0"/>
                  </a:cubicBezTo>
                  <a:cubicBezTo>
                    <a:pt x="759968" y="0"/>
                    <a:pt x="841756" y="14859"/>
                    <a:pt x="918464" y="42037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58992" y="1322272"/>
            <a:ext cx="1402040" cy="1402038"/>
            <a:chOff x="0" y="0"/>
            <a:chExt cx="1869386" cy="18693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2530" y="112881"/>
              <a:ext cx="1644254" cy="1645067"/>
            </a:xfrm>
            <a:custGeom>
              <a:avLst/>
              <a:gdLst/>
              <a:ahLst/>
              <a:cxnLst/>
              <a:rect r="r" b="b" t="t" l="l"/>
              <a:pathLst>
                <a:path h="1645067" w="1644254">
                  <a:moveTo>
                    <a:pt x="496562" y="1578251"/>
                  </a:moveTo>
                  <a:cubicBezTo>
                    <a:pt x="912487" y="1756559"/>
                    <a:pt x="1395341" y="1565932"/>
                    <a:pt x="1576062" y="1149880"/>
                  </a:cubicBezTo>
                  <a:cubicBezTo>
                    <a:pt x="1756783" y="733828"/>
                    <a:pt x="1566156" y="248561"/>
                    <a:pt x="1147691" y="67840"/>
                  </a:cubicBezTo>
                  <a:cubicBezTo>
                    <a:pt x="731766" y="-112881"/>
                    <a:pt x="248912" y="80159"/>
                    <a:pt x="68191" y="496211"/>
                  </a:cubicBezTo>
                  <a:cubicBezTo>
                    <a:pt x="-112530" y="912263"/>
                    <a:pt x="78097" y="1397530"/>
                    <a:pt x="496562" y="1578251"/>
                  </a:cubicBezTo>
                  <a:close/>
                  <a:moveTo>
                    <a:pt x="1437505" y="1088031"/>
                  </a:moveTo>
                  <a:cubicBezTo>
                    <a:pt x="1288915" y="1427248"/>
                    <a:pt x="895215" y="1583204"/>
                    <a:pt x="555998" y="1437154"/>
                  </a:cubicBezTo>
                  <a:cubicBezTo>
                    <a:pt x="216781" y="1291104"/>
                    <a:pt x="60825" y="894864"/>
                    <a:pt x="206875" y="558060"/>
                  </a:cubicBezTo>
                  <a:cubicBezTo>
                    <a:pt x="355465" y="218843"/>
                    <a:pt x="749165" y="62887"/>
                    <a:pt x="1088382" y="208937"/>
                  </a:cubicBezTo>
                  <a:cubicBezTo>
                    <a:pt x="1427599" y="354987"/>
                    <a:pt x="1583555" y="751227"/>
                    <a:pt x="1437505" y="1087904"/>
                  </a:cubicBezTo>
                  <a:close/>
                </a:path>
              </a:pathLst>
            </a:custGeom>
            <a:solidFill>
              <a:srgbClr val="FFC53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50316" y="581436"/>
            <a:ext cx="603200" cy="995150"/>
            <a:chOff x="0" y="0"/>
            <a:chExt cx="804267" cy="13268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4291" cy="1326769"/>
            </a:xfrm>
            <a:custGeom>
              <a:avLst/>
              <a:gdLst/>
              <a:ahLst/>
              <a:cxnLst/>
              <a:rect r="r" b="b" t="t" l="l"/>
              <a:pathLst>
                <a:path h="1326769" w="804291">
                  <a:moveTo>
                    <a:pt x="804291" y="694563"/>
                  </a:moveTo>
                  <a:lnTo>
                    <a:pt x="400685" y="0"/>
                  </a:lnTo>
                  <a:lnTo>
                    <a:pt x="0" y="694563"/>
                  </a:lnTo>
                  <a:lnTo>
                    <a:pt x="204724" y="694563"/>
                  </a:lnTo>
                  <a:lnTo>
                    <a:pt x="204724" y="1326769"/>
                  </a:lnTo>
                  <a:lnTo>
                    <a:pt x="596519" y="1326769"/>
                  </a:lnTo>
                  <a:lnTo>
                    <a:pt x="596519" y="694563"/>
                  </a:lnTo>
                  <a:lnTo>
                    <a:pt x="804291" y="694563"/>
                  </a:lnTo>
                  <a:close/>
                </a:path>
              </a:pathLst>
            </a:custGeom>
            <a:solidFill>
              <a:srgbClr val="FF9D3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933568" y="2016526"/>
            <a:ext cx="314900" cy="519450"/>
            <a:chOff x="0" y="0"/>
            <a:chExt cx="419867" cy="692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9862" cy="692658"/>
            </a:xfrm>
            <a:custGeom>
              <a:avLst/>
              <a:gdLst/>
              <a:ahLst/>
              <a:cxnLst/>
              <a:rect r="r" b="b" t="t" l="l"/>
              <a:pathLst>
                <a:path h="692658" w="419862">
                  <a:moveTo>
                    <a:pt x="419862" y="362585"/>
                  </a:moveTo>
                  <a:lnTo>
                    <a:pt x="209169" y="0"/>
                  </a:lnTo>
                  <a:lnTo>
                    <a:pt x="0" y="362585"/>
                  </a:lnTo>
                  <a:lnTo>
                    <a:pt x="106934" y="362585"/>
                  </a:lnTo>
                  <a:lnTo>
                    <a:pt x="106934" y="692658"/>
                  </a:lnTo>
                  <a:lnTo>
                    <a:pt x="311404" y="692658"/>
                  </a:lnTo>
                  <a:lnTo>
                    <a:pt x="311404" y="362585"/>
                  </a:lnTo>
                  <a:lnTo>
                    <a:pt x="419862" y="362585"/>
                  </a:lnTo>
                  <a:close/>
                </a:path>
              </a:pathLst>
            </a:custGeom>
            <a:solidFill>
              <a:srgbClr val="FF7A78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511188" y="5647204"/>
            <a:ext cx="830396" cy="830396"/>
          </a:xfrm>
          <a:custGeom>
            <a:avLst/>
            <a:gdLst/>
            <a:ahLst/>
            <a:cxnLst/>
            <a:rect r="r" b="b" t="t" l="l"/>
            <a:pathLst>
              <a:path h="830396" w="830396">
                <a:moveTo>
                  <a:pt x="0" y="0"/>
                </a:moveTo>
                <a:lnTo>
                  <a:pt x="830396" y="0"/>
                </a:lnTo>
                <a:lnTo>
                  <a:pt x="830396" y="830396"/>
                </a:lnTo>
                <a:lnTo>
                  <a:pt x="0" y="8303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586946" y="5138222"/>
            <a:ext cx="1306664" cy="1848452"/>
          </a:xfrm>
          <a:custGeom>
            <a:avLst/>
            <a:gdLst/>
            <a:ahLst/>
            <a:cxnLst/>
            <a:rect r="r" b="b" t="t" l="l"/>
            <a:pathLst>
              <a:path h="1848452" w="1306664">
                <a:moveTo>
                  <a:pt x="0" y="0"/>
                </a:moveTo>
                <a:lnTo>
                  <a:pt x="1306664" y="0"/>
                </a:lnTo>
                <a:lnTo>
                  <a:pt x="1306664" y="1848452"/>
                </a:lnTo>
                <a:lnTo>
                  <a:pt x="0" y="1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61336" y="3813466"/>
            <a:ext cx="9333688" cy="527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4098" indent="-327049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delays caused by Signal issues, Staffing, and Weather</a:t>
            </a:r>
          </a:p>
          <a:p>
            <a:pPr algn="ctr" marL="654098" indent="-327049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 tickets contribute most to revenue</a:t>
            </a:r>
          </a:p>
          <a:p>
            <a:pPr algn="ctr" marL="654098" indent="-327049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Sunday is the busiest day for passengers and trips</a:t>
            </a:r>
          </a:p>
          <a:p>
            <a:pPr algn="ctr" marL="654098" indent="-327049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Online and on-day bookings dominate purchase behavior</a:t>
            </a:r>
          </a:p>
          <a:p>
            <a:pPr algn="ctr" marL="654098" indent="-327049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Standard class tickets have the highest refund request</a:t>
            </a:r>
          </a:p>
          <a:p>
            <a:pPr algn="ctr">
              <a:lnSpc>
                <a:spcPts val="4241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00418" y="1648881"/>
            <a:ext cx="93336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Insights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26748" y="-5407857"/>
            <a:ext cx="26332677" cy="22486215"/>
          </a:xfrm>
          <a:custGeom>
            <a:avLst/>
            <a:gdLst/>
            <a:ahLst/>
            <a:cxnLst/>
            <a:rect r="r" b="b" t="t" l="l"/>
            <a:pathLst>
              <a:path h="22486215" w="26332677">
                <a:moveTo>
                  <a:pt x="0" y="0"/>
                </a:moveTo>
                <a:lnTo>
                  <a:pt x="26332677" y="0"/>
                </a:lnTo>
                <a:lnTo>
                  <a:pt x="26332677" y="22486215"/>
                </a:lnTo>
                <a:lnTo>
                  <a:pt x="0" y="2248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00834" y="811433"/>
            <a:ext cx="8963116" cy="228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73"/>
              </a:lnSpc>
            </a:pPr>
            <a:r>
              <a:rPr lang="en-US" sz="7311">
                <a:solidFill>
                  <a:srgbClr val="4C69B2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7311">
                <a:solidFill>
                  <a:srgbClr val="4C69B2"/>
                </a:solidFill>
                <a:latin typeface="Poppins"/>
                <a:ea typeface="Poppins"/>
                <a:cs typeface="Poppins"/>
                <a:sym typeface="Poppins"/>
              </a:rPr>
              <a:t>ommendations</a:t>
            </a:r>
          </a:p>
          <a:p>
            <a:pPr algn="l">
              <a:lnSpc>
                <a:spcPts val="877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427400" y="2973388"/>
            <a:ext cx="9988717" cy="541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94" indent="-337847" lvl="1">
              <a:lnSpc>
                <a:spcPts val="4318"/>
              </a:lnSpc>
              <a:buFont typeface="Arial"/>
              <a:buChar char="•"/>
            </a:pP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Focus on im</a:t>
            </a: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proving signal and staffing efficiency to reduce delays</a:t>
            </a:r>
          </a:p>
          <a:p>
            <a:pPr algn="l" marL="675694" indent="-337847" lvl="1">
              <a:lnSpc>
                <a:spcPts val="4318"/>
              </a:lnSpc>
              <a:buFont typeface="Arial"/>
              <a:buChar char="•"/>
            </a:pP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Promote advance ticket sales to boost revenue further</a:t>
            </a:r>
          </a:p>
          <a:p>
            <a:pPr algn="l" marL="675694" indent="-337847" lvl="1">
              <a:lnSpc>
                <a:spcPts val="4318"/>
              </a:lnSpc>
              <a:buFont typeface="Arial"/>
              <a:buChar char="•"/>
            </a:pP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Enhance online booking system and payment options</a:t>
            </a:r>
          </a:p>
          <a:p>
            <a:pPr algn="l" marL="675694" indent="-337847" lvl="1">
              <a:lnSpc>
                <a:spcPts val="4318"/>
              </a:lnSpc>
              <a:buFont typeface="Arial"/>
              <a:buChar char="•"/>
            </a:pP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Monitor peak days closely for operational planning</a:t>
            </a:r>
          </a:p>
          <a:p>
            <a:pPr algn="l" marL="675694" indent="-337847" lvl="1">
              <a:lnSpc>
                <a:spcPts val="4318"/>
              </a:lnSpc>
              <a:buFont typeface="Arial"/>
              <a:buChar char="•"/>
            </a:pPr>
            <a:r>
              <a:rPr lang="en-US" sz="3129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Implement targeted refund policies for high-demand ticket types</a:t>
            </a:r>
          </a:p>
          <a:p>
            <a:pPr algn="l">
              <a:lnSpc>
                <a:spcPts val="431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948674" y="2387182"/>
            <a:ext cx="3452160" cy="2230924"/>
          </a:xfrm>
          <a:custGeom>
            <a:avLst/>
            <a:gdLst/>
            <a:ahLst/>
            <a:cxnLst/>
            <a:rect r="r" b="b" t="t" l="l"/>
            <a:pathLst>
              <a:path h="2230924" w="3452160">
                <a:moveTo>
                  <a:pt x="0" y="0"/>
                </a:moveTo>
                <a:lnTo>
                  <a:pt x="3452160" y="0"/>
                </a:lnTo>
                <a:lnTo>
                  <a:pt x="3452160" y="2230924"/>
                </a:lnTo>
                <a:lnTo>
                  <a:pt x="0" y="2230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85892" y="1899354"/>
            <a:ext cx="875984" cy="875984"/>
          </a:xfrm>
          <a:custGeom>
            <a:avLst/>
            <a:gdLst/>
            <a:ahLst/>
            <a:cxnLst/>
            <a:rect r="r" b="b" t="t" l="l"/>
            <a:pathLst>
              <a:path h="875984" w="875984">
                <a:moveTo>
                  <a:pt x="0" y="0"/>
                </a:moveTo>
                <a:lnTo>
                  <a:pt x="875984" y="0"/>
                </a:lnTo>
                <a:lnTo>
                  <a:pt x="875984" y="875984"/>
                </a:lnTo>
                <a:lnTo>
                  <a:pt x="0" y="87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04056" y="1004286"/>
            <a:ext cx="1121568" cy="1849976"/>
            <a:chOff x="0" y="0"/>
            <a:chExt cx="1495424" cy="24666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5425" cy="2466594"/>
            </a:xfrm>
            <a:custGeom>
              <a:avLst/>
              <a:gdLst/>
              <a:ahLst/>
              <a:cxnLst/>
              <a:rect r="r" b="b" t="t" l="l"/>
              <a:pathLst>
                <a:path h="2466594" w="1495425">
                  <a:moveTo>
                    <a:pt x="1495425" y="1291209"/>
                  </a:moveTo>
                  <a:lnTo>
                    <a:pt x="744982" y="0"/>
                  </a:lnTo>
                  <a:lnTo>
                    <a:pt x="0" y="1291209"/>
                  </a:lnTo>
                  <a:lnTo>
                    <a:pt x="380746" y="1291209"/>
                  </a:lnTo>
                  <a:lnTo>
                    <a:pt x="380746" y="2466594"/>
                  </a:lnTo>
                  <a:lnTo>
                    <a:pt x="1109091" y="2466594"/>
                  </a:lnTo>
                  <a:lnTo>
                    <a:pt x="1109091" y="1291209"/>
                  </a:lnTo>
                  <a:lnTo>
                    <a:pt x="1495425" y="1291209"/>
                  </a:lnTo>
                  <a:close/>
                </a:path>
              </a:pathLst>
            </a:custGeom>
            <a:solidFill>
              <a:srgbClr val="FFC53A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007260" y="4659874"/>
            <a:ext cx="539898" cy="532864"/>
          </a:xfrm>
          <a:custGeom>
            <a:avLst/>
            <a:gdLst/>
            <a:ahLst/>
            <a:cxnLst/>
            <a:rect r="r" b="b" t="t" l="l"/>
            <a:pathLst>
              <a:path h="532864" w="539898">
                <a:moveTo>
                  <a:pt x="0" y="0"/>
                </a:moveTo>
                <a:lnTo>
                  <a:pt x="539898" y="0"/>
                </a:lnTo>
                <a:lnTo>
                  <a:pt x="539898" y="532864"/>
                </a:lnTo>
                <a:lnTo>
                  <a:pt x="0" y="532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007226" y="5614426"/>
            <a:ext cx="332190" cy="547968"/>
            <a:chOff x="0" y="0"/>
            <a:chExt cx="442920" cy="730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2976" cy="730631"/>
            </a:xfrm>
            <a:custGeom>
              <a:avLst/>
              <a:gdLst/>
              <a:ahLst/>
              <a:cxnLst/>
              <a:rect r="r" b="b" t="t" l="l"/>
              <a:pathLst>
                <a:path h="730631" w="442976">
                  <a:moveTo>
                    <a:pt x="442976" y="382524"/>
                  </a:moveTo>
                  <a:lnTo>
                    <a:pt x="220599" y="0"/>
                  </a:lnTo>
                  <a:lnTo>
                    <a:pt x="0" y="382524"/>
                  </a:lnTo>
                  <a:lnTo>
                    <a:pt x="112776" y="382524"/>
                  </a:lnTo>
                  <a:lnTo>
                    <a:pt x="112776" y="730631"/>
                  </a:lnTo>
                  <a:lnTo>
                    <a:pt x="328549" y="730631"/>
                  </a:lnTo>
                  <a:lnTo>
                    <a:pt x="328549" y="382524"/>
                  </a:lnTo>
                  <a:lnTo>
                    <a:pt x="442976" y="382524"/>
                  </a:lnTo>
                  <a:close/>
                </a:path>
              </a:pathLst>
            </a:custGeom>
            <a:solidFill>
              <a:srgbClr val="FFC53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20438" y="3235558"/>
            <a:ext cx="902768" cy="595036"/>
            <a:chOff x="0" y="0"/>
            <a:chExt cx="1203691" cy="793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07827" y="0"/>
              <a:ext cx="849677" cy="784101"/>
            </a:xfrm>
            <a:custGeom>
              <a:avLst/>
              <a:gdLst/>
              <a:ahLst/>
              <a:cxnLst/>
              <a:rect r="r" b="b" t="t" l="l"/>
              <a:pathLst>
                <a:path h="784101" w="849677">
                  <a:moveTo>
                    <a:pt x="382088" y="0"/>
                  </a:moveTo>
                  <a:cubicBezTo>
                    <a:pt x="101418" y="35687"/>
                    <a:pt x="101418" y="35687"/>
                    <a:pt x="101418" y="35687"/>
                  </a:cubicBezTo>
                  <a:cubicBezTo>
                    <a:pt x="101418" y="35687"/>
                    <a:pt x="-207827" y="555879"/>
                    <a:pt x="253691" y="743458"/>
                  </a:cubicBezTo>
                  <a:cubicBezTo>
                    <a:pt x="263216" y="762508"/>
                    <a:pt x="403551" y="793369"/>
                    <a:pt x="482037" y="781431"/>
                  </a:cubicBezTo>
                  <a:cubicBezTo>
                    <a:pt x="995879" y="734060"/>
                    <a:pt x="841193" y="254127"/>
                    <a:pt x="777058" y="40386"/>
                  </a:cubicBezTo>
                  <a:cubicBezTo>
                    <a:pt x="382088" y="0"/>
                    <a:pt x="382088" y="0"/>
                    <a:pt x="382088" y="0"/>
                  </a:cubicBezTo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84554" y="4887226"/>
            <a:ext cx="1631244" cy="2568050"/>
          </a:xfrm>
          <a:custGeom>
            <a:avLst/>
            <a:gdLst/>
            <a:ahLst/>
            <a:cxnLst/>
            <a:rect r="r" b="b" t="t" l="l"/>
            <a:pathLst>
              <a:path h="2568050" w="1631244">
                <a:moveTo>
                  <a:pt x="0" y="0"/>
                </a:moveTo>
                <a:lnTo>
                  <a:pt x="1631244" y="0"/>
                </a:lnTo>
                <a:lnTo>
                  <a:pt x="1631244" y="2568050"/>
                </a:lnTo>
                <a:lnTo>
                  <a:pt x="0" y="2568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457204" y="3826510"/>
            <a:ext cx="851024" cy="1142414"/>
          </a:xfrm>
          <a:custGeom>
            <a:avLst/>
            <a:gdLst/>
            <a:ahLst/>
            <a:cxnLst/>
            <a:rect r="r" b="b" t="t" l="l"/>
            <a:pathLst>
              <a:path h="1142414" w="851024">
                <a:moveTo>
                  <a:pt x="0" y="0"/>
                </a:moveTo>
                <a:lnTo>
                  <a:pt x="851024" y="0"/>
                </a:lnTo>
                <a:lnTo>
                  <a:pt x="851024" y="1142414"/>
                </a:lnTo>
                <a:lnTo>
                  <a:pt x="0" y="1142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76824" y="7279624"/>
            <a:ext cx="618184" cy="544656"/>
            <a:chOff x="0" y="0"/>
            <a:chExt cx="824245" cy="7262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6075" y="59926"/>
              <a:ext cx="774187" cy="661846"/>
            </a:xfrm>
            <a:custGeom>
              <a:avLst/>
              <a:gdLst/>
              <a:ahLst/>
              <a:cxnLst/>
              <a:rect r="r" b="b" t="t" l="l"/>
              <a:pathLst>
                <a:path h="661846" w="774187">
                  <a:moveTo>
                    <a:pt x="427569" y="13861"/>
                  </a:moveTo>
                  <a:cubicBezTo>
                    <a:pt x="384770" y="173373"/>
                    <a:pt x="384770" y="173373"/>
                    <a:pt x="384770" y="173373"/>
                  </a:cubicBezTo>
                  <a:cubicBezTo>
                    <a:pt x="384770" y="173373"/>
                    <a:pt x="178268" y="411498"/>
                    <a:pt x="52284" y="487698"/>
                  </a:cubicBezTo>
                  <a:cubicBezTo>
                    <a:pt x="-26075" y="554373"/>
                    <a:pt x="2373" y="609110"/>
                    <a:pt x="19010" y="637685"/>
                  </a:cubicBezTo>
                  <a:cubicBezTo>
                    <a:pt x="38060" y="663847"/>
                    <a:pt x="294600" y="666260"/>
                    <a:pt x="358735" y="656735"/>
                  </a:cubicBezTo>
                  <a:cubicBezTo>
                    <a:pt x="498943" y="637685"/>
                    <a:pt x="577302" y="459123"/>
                    <a:pt x="662773" y="442486"/>
                  </a:cubicBezTo>
                  <a:cubicBezTo>
                    <a:pt x="748244" y="423436"/>
                    <a:pt x="798155" y="378224"/>
                    <a:pt x="762595" y="132987"/>
                  </a:cubicBezTo>
                  <a:cubicBezTo>
                    <a:pt x="734020" y="-59926"/>
                    <a:pt x="427569" y="13861"/>
                    <a:pt x="427569" y="13861"/>
                  </a:cubicBezTo>
                  <a:close/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26442" y="7456638"/>
            <a:ext cx="665842" cy="460234"/>
            <a:chOff x="0" y="0"/>
            <a:chExt cx="887789" cy="6136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43" y="0"/>
              <a:ext cx="877791" cy="558063"/>
            </a:xfrm>
            <a:custGeom>
              <a:avLst/>
              <a:gdLst/>
              <a:ahLst/>
              <a:cxnLst/>
              <a:rect r="r" b="b" t="t" l="l"/>
              <a:pathLst>
                <a:path h="558063" w="877791">
                  <a:moveTo>
                    <a:pt x="260230" y="195072"/>
                  </a:moveTo>
                  <a:cubicBezTo>
                    <a:pt x="260230" y="195072"/>
                    <a:pt x="176918" y="254508"/>
                    <a:pt x="105544" y="325882"/>
                  </a:cubicBezTo>
                  <a:cubicBezTo>
                    <a:pt x="36456" y="399542"/>
                    <a:pt x="-6343" y="461391"/>
                    <a:pt x="769" y="494665"/>
                  </a:cubicBezTo>
                  <a:cubicBezTo>
                    <a:pt x="10294" y="525526"/>
                    <a:pt x="179331" y="613537"/>
                    <a:pt x="453016" y="506603"/>
                  </a:cubicBezTo>
                  <a:cubicBezTo>
                    <a:pt x="591065" y="435229"/>
                    <a:pt x="867163" y="213995"/>
                    <a:pt x="874275" y="204597"/>
                  </a:cubicBezTo>
                  <a:cubicBezTo>
                    <a:pt x="881387" y="192659"/>
                    <a:pt x="878974" y="30988"/>
                    <a:pt x="855225" y="0"/>
                  </a:cubicBezTo>
                  <a:cubicBezTo>
                    <a:pt x="855225" y="0"/>
                    <a:pt x="843287" y="73787"/>
                    <a:pt x="793376" y="104648"/>
                  </a:cubicBezTo>
                  <a:cubicBezTo>
                    <a:pt x="741052" y="135509"/>
                    <a:pt x="526803" y="278257"/>
                    <a:pt x="526803" y="278257"/>
                  </a:cubicBezTo>
                  <a:cubicBezTo>
                    <a:pt x="526803" y="278257"/>
                    <a:pt x="410217" y="166497"/>
                    <a:pt x="260230" y="195072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49956" y="7279624"/>
            <a:ext cx="624992" cy="544656"/>
            <a:chOff x="0" y="0"/>
            <a:chExt cx="833323" cy="7262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4047" y="59926"/>
              <a:ext cx="775768" cy="659226"/>
            </a:xfrm>
            <a:custGeom>
              <a:avLst/>
              <a:gdLst/>
              <a:ahLst/>
              <a:cxnLst/>
              <a:rect r="r" b="b" t="t" l="l"/>
              <a:pathLst>
                <a:path h="659226" w="775768">
                  <a:moveTo>
                    <a:pt x="349714" y="13861"/>
                  </a:moveTo>
                  <a:cubicBezTo>
                    <a:pt x="390227" y="173373"/>
                    <a:pt x="390227" y="173373"/>
                    <a:pt x="390227" y="173373"/>
                  </a:cubicBezTo>
                  <a:cubicBezTo>
                    <a:pt x="390227" y="173373"/>
                    <a:pt x="628352" y="428135"/>
                    <a:pt x="740239" y="494810"/>
                  </a:cubicBezTo>
                  <a:cubicBezTo>
                    <a:pt x="809327" y="594759"/>
                    <a:pt x="759289" y="592473"/>
                    <a:pt x="742652" y="621048"/>
                  </a:cubicBezTo>
                  <a:cubicBezTo>
                    <a:pt x="723602" y="647210"/>
                    <a:pt x="504527" y="666260"/>
                    <a:pt x="440265" y="656735"/>
                  </a:cubicBezTo>
                  <a:cubicBezTo>
                    <a:pt x="299803" y="635272"/>
                    <a:pt x="197441" y="459123"/>
                    <a:pt x="111716" y="442486"/>
                  </a:cubicBezTo>
                  <a:cubicBezTo>
                    <a:pt x="25991" y="423436"/>
                    <a:pt x="-24047" y="378224"/>
                    <a:pt x="11640" y="132987"/>
                  </a:cubicBezTo>
                  <a:cubicBezTo>
                    <a:pt x="40215" y="-59926"/>
                    <a:pt x="349714" y="13861"/>
                    <a:pt x="349714" y="13861"/>
                  </a:cubicBezTo>
                  <a:close/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754040" y="7456638"/>
            <a:ext cx="664480" cy="460234"/>
            <a:chOff x="0" y="0"/>
            <a:chExt cx="885973" cy="6136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595" y="0"/>
              <a:ext cx="876014" cy="558190"/>
            </a:xfrm>
            <a:custGeom>
              <a:avLst/>
              <a:gdLst/>
              <a:ahLst/>
              <a:cxnLst/>
              <a:rect r="r" b="b" t="t" l="l"/>
              <a:pathLst>
                <a:path h="558190" w="876014">
                  <a:moveTo>
                    <a:pt x="616292" y="195072"/>
                  </a:moveTo>
                  <a:cubicBezTo>
                    <a:pt x="616292" y="195072"/>
                    <a:pt x="699477" y="254508"/>
                    <a:pt x="770724" y="325882"/>
                  </a:cubicBezTo>
                  <a:cubicBezTo>
                    <a:pt x="839558" y="399669"/>
                    <a:pt x="882357" y="461518"/>
                    <a:pt x="875245" y="494792"/>
                  </a:cubicBezTo>
                  <a:cubicBezTo>
                    <a:pt x="868133" y="525653"/>
                    <a:pt x="697064" y="613664"/>
                    <a:pt x="423887" y="506730"/>
                  </a:cubicBezTo>
                  <a:cubicBezTo>
                    <a:pt x="288505" y="435229"/>
                    <a:pt x="10629" y="214122"/>
                    <a:pt x="3517" y="204597"/>
                  </a:cubicBezTo>
                  <a:cubicBezTo>
                    <a:pt x="-3595" y="192659"/>
                    <a:pt x="-1182" y="30861"/>
                    <a:pt x="22567" y="0"/>
                  </a:cubicBezTo>
                  <a:cubicBezTo>
                    <a:pt x="22567" y="0"/>
                    <a:pt x="34505" y="73787"/>
                    <a:pt x="86702" y="104648"/>
                  </a:cubicBezTo>
                  <a:cubicBezTo>
                    <a:pt x="136613" y="135509"/>
                    <a:pt x="350354" y="278257"/>
                    <a:pt x="350354" y="278257"/>
                  </a:cubicBezTo>
                  <a:cubicBezTo>
                    <a:pt x="350354" y="278257"/>
                    <a:pt x="466686" y="166497"/>
                    <a:pt x="616419" y="195072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71538" y="3983098"/>
            <a:ext cx="1096120" cy="1037568"/>
            <a:chOff x="0" y="0"/>
            <a:chExt cx="1461493" cy="13834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1977" y="0"/>
              <a:ext cx="1399539" cy="1383411"/>
            </a:xfrm>
            <a:custGeom>
              <a:avLst/>
              <a:gdLst/>
              <a:ahLst/>
              <a:cxnLst/>
              <a:rect r="r" b="b" t="t" l="l"/>
              <a:pathLst>
                <a:path h="1383411" w="1399539">
                  <a:moveTo>
                    <a:pt x="1399539" y="209169"/>
                  </a:moveTo>
                  <a:cubicBezTo>
                    <a:pt x="986027" y="0"/>
                    <a:pt x="986027" y="0"/>
                    <a:pt x="986027" y="0"/>
                  </a:cubicBezTo>
                  <a:cubicBezTo>
                    <a:pt x="986027" y="0"/>
                    <a:pt x="211327" y="736854"/>
                    <a:pt x="104393" y="836676"/>
                  </a:cubicBezTo>
                  <a:cubicBezTo>
                    <a:pt x="-33402" y="960374"/>
                    <a:pt x="-61977" y="1278890"/>
                    <a:pt x="187578" y="1309751"/>
                  </a:cubicBezTo>
                  <a:cubicBezTo>
                    <a:pt x="874394" y="1383411"/>
                    <a:pt x="874394" y="1383411"/>
                    <a:pt x="874394" y="1383411"/>
                  </a:cubicBezTo>
                  <a:cubicBezTo>
                    <a:pt x="836421" y="948436"/>
                    <a:pt x="836421" y="948436"/>
                    <a:pt x="836421" y="948436"/>
                  </a:cubicBezTo>
                  <a:cubicBezTo>
                    <a:pt x="1285493" y="606171"/>
                    <a:pt x="1285493" y="606171"/>
                    <a:pt x="1285493" y="606171"/>
                  </a:cubicBezTo>
                  <a:cubicBezTo>
                    <a:pt x="1399539" y="209169"/>
                    <a:pt x="1399539" y="209169"/>
                    <a:pt x="1399539" y="209169"/>
                  </a:cubicBezTo>
                </a:path>
              </a:pathLst>
            </a:custGeom>
            <a:solidFill>
              <a:srgbClr val="FF494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82752" y="4501882"/>
            <a:ext cx="369004" cy="108932"/>
            <a:chOff x="0" y="0"/>
            <a:chExt cx="492005" cy="1452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998" cy="145288"/>
            </a:xfrm>
            <a:custGeom>
              <a:avLst/>
              <a:gdLst/>
              <a:ahLst/>
              <a:cxnLst/>
              <a:rect r="r" b="b" t="t" l="l"/>
              <a:pathLst>
                <a:path h="145288" w="491998">
                  <a:moveTo>
                    <a:pt x="491998" y="0"/>
                  </a:moveTo>
                  <a:lnTo>
                    <a:pt x="482981" y="123444"/>
                  </a:lnTo>
                  <a:lnTo>
                    <a:pt x="0" y="145288"/>
                  </a:lnTo>
                  <a:lnTo>
                    <a:pt x="491998" y="0"/>
                  </a:lnTo>
                  <a:close/>
                </a:path>
              </a:pathLst>
            </a:custGeom>
            <a:solidFill>
              <a:srgbClr val="334157">
                <a:alpha val="8235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170702" y="3938164"/>
            <a:ext cx="791112" cy="889148"/>
            <a:chOff x="0" y="0"/>
            <a:chExt cx="1054816" cy="11855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862" cy="1183140"/>
            </a:xfrm>
            <a:custGeom>
              <a:avLst/>
              <a:gdLst/>
              <a:ahLst/>
              <a:cxnLst/>
              <a:rect r="r" b="b" t="t" l="l"/>
              <a:pathLst>
                <a:path h="1183140" w="1054862">
                  <a:moveTo>
                    <a:pt x="1054862" y="252349"/>
                  </a:moveTo>
                  <a:cubicBezTo>
                    <a:pt x="1054862" y="252349"/>
                    <a:pt x="559562" y="1180719"/>
                    <a:pt x="371475" y="1183132"/>
                  </a:cubicBezTo>
                  <a:cubicBezTo>
                    <a:pt x="185674" y="1185545"/>
                    <a:pt x="0" y="628523"/>
                    <a:pt x="0" y="628523"/>
                  </a:cubicBezTo>
                  <a:cubicBezTo>
                    <a:pt x="183388" y="0"/>
                    <a:pt x="183388" y="0"/>
                    <a:pt x="183388" y="0"/>
                  </a:cubicBezTo>
                  <a:cubicBezTo>
                    <a:pt x="183388" y="0"/>
                    <a:pt x="383413" y="683260"/>
                    <a:pt x="404749" y="692785"/>
                  </a:cubicBezTo>
                  <a:cubicBezTo>
                    <a:pt x="942848" y="38100"/>
                    <a:pt x="942848" y="38100"/>
                    <a:pt x="942848" y="38100"/>
                  </a:cubicBezTo>
                  <a:cubicBezTo>
                    <a:pt x="1054735" y="252349"/>
                    <a:pt x="1054735" y="252349"/>
                    <a:pt x="1054735" y="252349"/>
                  </a:cubicBezTo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900540" y="3880974"/>
            <a:ext cx="223308" cy="283220"/>
            <a:chOff x="0" y="0"/>
            <a:chExt cx="297744" cy="3776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4023"/>
              <a:ext cx="297688" cy="360879"/>
            </a:xfrm>
            <a:custGeom>
              <a:avLst/>
              <a:gdLst/>
              <a:ahLst/>
              <a:cxnLst/>
              <a:rect r="r" b="b" t="t" l="l"/>
              <a:pathLst>
                <a:path h="360879" w="297688">
                  <a:moveTo>
                    <a:pt x="35687" y="330876"/>
                  </a:moveTo>
                  <a:cubicBezTo>
                    <a:pt x="35687" y="330876"/>
                    <a:pt x="159512" y="373675"/>
                    <a:pt x="214376" y="357038"/>
                  </a:cubicBezTo>
                  <a:cubicBezTo>
                    <a:pt x="266827" y="337988"/>
                    <a:pt x="297688" y="297602"/>
                    <a:pt x="297688" y="297602"/>
                  </a:cubicBezTo>
                  <a:cubicBezTo>
                    <a:pt x="190500" y="17313"/>
                    <a:pt x="190500" y="17313"/>
                    <a:pt x="190500" y="17313"/>
                  </a:cubicBezTo>
                  <a:cubicBezTo>
                    <a:pt x="190500" y="17313"/>
                    <a:pt x="116713" y="-4023"/>
                    <a:pt x="112014" y="676"/>
                  </a:cubicBezTo>
                  <a:cubicBezTo>
                    <a:pt x="109601" y="5502"/>
                    <a:pt x="0" y="195494"/>
                    <a:pt x="0" y="195494"/>
                  </a:cubicBezTo>
                  <a:cubicBezTo>
                    <a:pt x="35687" y="330876"/>
                    <a:pt x="35687" y="330876"/>
                    <a:pt x="35687" y="330876"/>
                  </a:cubicBezTo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994492" y="4150580"/>
            <a:ext cx="66720" cy="5446"/>
            <a:chOff x="0" y="0"/>
            <a:chExt cx="88960" cy="72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900" cy="7239"/>
            </a:xfrm>
            <a:custGeom>
              <a:avLst/>
              <a:gdLst/>
              <a:ahLst/>
              <a:cxnLst/>
              <a:rect r="r" b="b" t="t" l="l"/>
              <a:pathLst>
                <a:path h="7239" w="88900">
                  <a:moveTo>
                    <a:pt x="0" y="0"/>
                  </a:moveTo>
                  <a:cubicBezTo>
                    <a:pt x="19177" y="4826"/>
                    <a:pt x="38481" y="7239"/>
                    <a:pt x="57658" y="7239"/>
                  </a:cubicBezTo>
                  <a:cubicBezTo>
                    <a:pt x="69723" y="7239"/>
                    <a:pt x="79375" y="4826"/>
                    <a:pt x="88900" y="2413"/>
                  </a:cubicBezTo>
                  <a:cubicBezTo>
                    <a:pt x="79375" y="4826"/>
                    <a:pt x="69723" y="7239"/>
                    <a:pt x="57658" y="7239"/>
                  </a:cubicBezTo>
                  <a:cubicBezTo>
                    <a:pt x="38481" y="7239"/>
                    <a:pt x="19177" y="4826"/>
                    <a:pt x="0" y="0"/>
                  </a:cubicBezTo>
                </a:path>
              </a:pathLst>
            </a:custGeom>
            <a:solidFill>
              <a:srgbClr val="FFD1BE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3915518" y="4011692"/>
            <a:ext cx="198800" cy="144334"/>
          </a:xfrm>
          <a:custGeom>
            <a:avLst/>
            <a:gdLst/>
            <a:ahLst/>
            <a:cxnLst/>
            <a:rect r="r" b="b" t="t" l="l"/>
            <a:pathLst>
              <a:path h="144334" w="198800">
                <a:moveTo>
                  <a:pt x="0" y="0"/>
                </a:moveTo>
                <a:lnTo>
                  <a:pt x="198800" y="0"/>
                </a:lnTo>
                <a:lnTo>
                  <a:pt x="198800" y="144334"/>
                </a:lnTo>
                <a:lnTo>
                  <a:pt x="0" y="1443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4009472" y="3743450"/>
            <a:ext cx="10894" cy="98038"/>
            <a:chOff x="0" y="0"/>
            <a:chExt cx="14525" cy="1307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78" cy="130683"/>
            </a:xfrm>
            <a:custGeom>
              <a:avLst/>
              <a:gdLst/>
              <a:ahLst/>
              <a:cxnLst/>
              <a:rect r="r" b="b" t="t" l="l"/>
              <a:pathLst>
                <a:path h="130683" w="14478">
                  <a:moveTo>
                    <a:pt x="0" y="0"/>
                  </a:moveTo>
                  <a:lnTo>
                    <a:pt x="14478" y="13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37" id="37"/>
          <p:cNvSpPr/>
          <p:nvPr/>
        </p:nvSpPr>
        <p:spPr>
          <a:xfrm rot="5017760">
            <a:off x="3965709" y="3792371"/>
            <a:ext cx="9845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3990408" y="3742088"/>
            <a:ext cx="49018" cy="103484"/>
            <a:chOff x="0" y="0"/>
            <a:chExt cx="65357" cy="1379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405" cy="137922"/>
            </a:xfrm>
            <a:custGeom>
              <a:avLst/>
              <a:gdLst/>
              <a:ahLst/>
              <a:cxnLst/>
              <a:rect r="r" b="b" t="t" l="l"/>
              <a:pathLst>
                <a:path h="137922" w="65405">
                  <a:moveTo>
                    <a:pt x="16383" y="137922"/>
                  </a:moveTo>
                  <a:lnTo>
                    <a:pt x="65405" y="130683"/>
                  </a:lnTo>
                  <a:lnTo>
                    <a:pt x="49022" y="0"/>
                  </a:lnTo>
                  <a:lnTo>
                    <a:pt x="0" y="5461"/>
                  </a:lnTo>
                  <a:lnTo>
                    <a:pt x="16383" y="137922"/>
                  </a:lnTo>
                  <a:close/>
                </a:path>
              </a:pathLst>
            </a:custGeom>
            <a:solidFill>
              <a:srgbClr val="4C69B2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3974068" y="3810170"/>
            <a:ext cx="122548" cy="321346"/>
          </a:xfrm>
          <a:custGeom>
            <a:avLst/>
            <a:gdLst/>
            <a:ahLst/>
            <a:cxnLst/>
            <a:rect r="r" b="b" t="t" l="l"/>
            <a:pathLst>
              <a:path h="321346" w="122548">
                <a:moveTo>
                  <a:pt x="0" y="0"/>
                </a:moveTo>
                <a:lnTo>
                  <a:pt x="122548" y="0"/>
                </a:lnTo>
                <a:lnTo>
                  <a:pt x="122548" y="321346"/>
                </a:lnTo>
                <a:lnTo>
                  <a:pt x="0" y="32134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3827012" y="3328150"/>
            <a:ext cx="322708" cy="404406"/>
            <a:chOff x="0" y="0"/>
            <a:chExt cx="430277" cy="5392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559" y="11045"/>
              <a:ext cx="405033" cy="517169"/>
            </a:xfrm>
            <a:custGeom>
              <a:avLst/>
              <a:gdLst/>
              <a:ahLst/>
              <a:cxnLst/>
              <a:rect r="r" b="b" t="t" l="l"/>
              <a:pathLst>
                <a:path h="517169" w="405033">
                  <a:moveTo>
                    <a:pt x="1665" y="278769"/>
                  </a:moveTo>
                  <a:cubicBezTo>
                    <a:pt x="13603" y="421263"/>
                    <a:pt x="115711" y="528197"/>
                    <a:pt x="227471" y="516259"/>
                  </a:cubicBezTo>
                  <a:cubicBezTo>
                    <a:pt x="339231" y="506734"/>
                    <a:pt x="417590" y="383290"/>
                    <a:pt x="403366" y="240669"/>
                  </a:cubicBezTo>
                  <a:cubicBezTo>
                    <a:pt x="391555" y="98175"/>
                    <a:pt x="289320" y="-11045"/>
                    <a:pt x="177560" y="893"/>
                  </a:cubicBezTo>
                  <a:cubicBezTo>
                    <a:pt x="65927" y="10291"/>
                    <a:pt x="-12559" y="136275"/>
                    <a:pt x="1665" y="278769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792972" y="3280492"/>
            <a:ext cx="394876" cy="511974"/>
            <a:chOff x="0" y="0"/>
            <a:chExt cx="526501" cy="6826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2268" y="40451"/>
              <a:ext cx="462005" cy="601724"/>
            </a:xfrm>
            <a:custGeom>
              <a:avLst/>
              <a:gdLst/>
              <a:ahLst/>
              <a:cxnLst/>
              <a:rect r="r" b="b" t="t" l="l"/>
              <a:pathLst>
                <a:path h="601724" w="462005">
                  <a:moveTo>
                    <a:pt x="36820" y="123633"/>
                  </a:moveTo>
                  <a:cubicBezTo>
                    <a:pt x="105908" y="-9590"/>
                    <a:pt x="246497" y="-40451"/>
                    <a:pt x="356098" y="57085"/>
                  </a:cubicBezTo>
                  <a:cubicBezTo>
                    <a:pt x="463286" y="154621"/>
                    <a:pt x="494274" y="342454"/>
                    <a:pt x="425186" y="478090"/>
                  </a:cubicBezTo>
                  <a:cubicBezTo>
                    <a:pt x="356098" y="611313"/>
                    <a:pt x="213096" y="642174"/>
                    <a:pt x="105908" y="544638"/>
                  </a:cubicBezTo>
                  <a:cubicBezTo>
                    <a:pt x="-1280" y="447102"/>
                    <a:pt x="-32268" y="259269"/>
                    <a:pt x="36820" y="123633"/>
                  </a:cubicBezTo>
                  <a:close/>
                  <a:moveTo>
                    <a:pt x="129784" y="499426"/>
                  </a:moveTo>
                  <a:cubicBezTo>
                    <a:pt x="217922" y="577912"/>
                    <a:pt x="332222" y="554163"/>
                    <a:pt x="389499" y="444689"/>
                  </a:cubicBezTo>
                  <a:cubicBezTo>
                    <a:pt x="444236" y="335215"/>
                    <a:pt x="420487" y="180656"/>
                    <a:pt x="332349" y="102170"/>
                  </a:cubicBezTo>
                  <a:cubicBezTo>
                    <a:pt x="244211" y="23684"/>
                    <a:pt x="127371" y="47560"/>
                    <a:pt x="72507" y="156907"/>
                  </a:cubicBezTo>
                  <a:cubicBezTo>
                    <a:pt x="15357" y="266381"/>
                    <a:pt x="41519" y="420940"/>
                    <a:pt x="129657" y="499426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3979516" y="3874166"/>
            <a:ext cx="202884" cy="246456"/>
          </a:xfrm>
          <a:custGeom>
            <a:avLst/>
            <a:gdLst/>
            <a:ahLst/>
            <a:cxnLst/>
            <a:rect r="r" b="b" t="t" l="l"/>
            <a:pathLst>
              <a:path h="246456" w="202884">
                <a:moveTo>
                  <a:pt x="0" y="0"/>
                </a:moveTo>
                <a:lnTo>
                  <a:pt x="202884" y="0"/>
                </a:lnTo>
                <a:lnTo>
                  <a:pt x="202884" y="246456"/>
                </a:lnTo>
                <a:lnTo>
                  <a:pt x="0" y="24645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3876030" y="3816978"/>
            <a:ext cx="236924" cy="234202"/>
            <a:chOff x="0" y="0"/>
            <a:chExt cx="315899" cy="3122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15100"/>
              <a:ext cx="315849" cy="297193"/>
            </a:xfrm>
            <a:custGeom>
              <a:avLst/>
              <a:gdLst/>
              <a:ahLst/>
              <a:cxnLst/>
              <a:rect r="r" b="b" t="t" l="l"/>
              <a:pathLst>
                <a:path h="297193" w="315849">
                  <a:moveTo>
                    <a:pt x="0" y="189878"/>
                  </a:moveTo>
                  <a:cubicBezTo>
                    <a:pt x="0" y="189878"/>
                    <a:pt x="40386" y="65926"/>
                    <a:pt x="121158" y="1537"/>
                  </a:cubicBezTo>
                  <a:cubicBezTo>
                    <a:pt x="161544" y="-15100"/>
                    <a:pt x="315849" y="108852"/>
                    <a:pt x="315849" y="108852"/>
                  </a:cubicBezTo>
                  <a:cubicBezTo>
                    <a:pt x="303911" y="168415"/>
                    <a:pt x="225552" y="175654"/>
                    <a:pt x="170942" y="130315"/>
                  </a:cubicBezTo>
                  <a:cubicBezTo>
                    <a:pt x="170942" y="130315"/>
                    <a:pt x="211328" y="261379"/>
                    <a:pt x="59309" y="297193"/>
                  </a:cubicBezTo>
                  <a:cubicBezTo>
                    <a:pt x="0" y="189878"/>
                    <a:pt x="0" y="189878"/>
                    <a:pt x="0" y="189878"/>
                  </a:cubicBezTo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961814" y="4007608"/>
            <a:ext cx="31318" cy="27232"/>
            <a:chOff x="0" y="0"/>
            <a:chExt cx="41757" cy="3630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783" cy="36322"/>
            </a:xfrm>
            <a:custGeom>
              <a:avLst/>
              <a:gdLst/>
              <a:ahLst/>
              <a:cxnLst/>
              <a:rect r="r" b="b" t="t" l="l"/>
              <a:pathLst>
                <a:path h="36322" w="41783">
                  <a:moveTo>
                    <a:pt x="39497" y="0"/>
                  </a:moveTo>
                  <a:cubicBezTo>
                    <a:pt x="39497" y="2413"/>
                    <a:pt x="39497" y="4826"/>
                    <a:pt x="41783" y="4826"/>
                  </a:cubicBezTo>
                  <a:cubicBezTo>
                    <a:pt x="39497" y="7239"/>
                    <a:pt x="37084" y="9652"/>
                    <a:pt x="34798" y="14478"/>
                  </a:cubicBezTo>
                  <a:cubicBezTo>
                    <a:pt x="25527" y="24257"/>
                    <a:pt x="13970" y="31496"/>
                    <a:pt x="0" y="36322"/>
                  </a:cubicBezTo>
                  <a:cubicBezTo>
                    <a:pt x="9271" y="31496"/>
                    <a:pt x="13970" y="26670"/>
                    <a:pt x="20828" y="21844"/>
                  </a:cubicBezTo>
                  <a:cubicBezTo>
                    <a:pt x="25527" y="19431"/>
                    <a:pt x="27813" y="14605"/>
                    <a:pt x="32385" y="9779"/>
                  </a:cubicBezTo>
                  <a:cubicBezTo>
                    <a:pt x="32385" y="9779"/>
                    <a:pt x="32385" y="9779"/>
                    <a:pt x="34671" y="7366"/>
                  </a:cubicBezTo>
                  <a:cubicBezTo>
                    <a:pt x="34671" y="4953"/>
                    <a:pt x="36957" y="2540"/>
                    <a:pt x="39370" y="127"/>
                  </a:cubicBezTo>
                </a:path>
              </a:pathLst>
            </a:custGeom>
            <a:solidFill>
              <a:srgbClr val="FF643C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3991770" y="3909570"/>
            <a:ext cx="121186" cy="102122"/>
          </a:xfrm>
          <a:custGeom>
            <a:avLst/>
            <a:gdLst/>
            <a:ahLst/>
            <a:cxnLst/>
            <a:rect r="r" b="b" t="t" l="l"/>
            <a:pathLst>
              <a:path h="102122" w="121186">
                <a:moveTo>
                  <a:pt x="0" y="0"/>
                </a:moveTo>
                <a:lnTo>
                  <a:pt x="121186" y="0"/>
                </a:lnTo>
                <a:lnTo>
                  <a:pt x="121186" y="102122"/>
                </a:lnTo>
                <a:lnTo>
                  <a:pt x="0" y="10212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961814" y="3909570"/>
            <a:ext cx="151142" cy="125270"/>
          </a:xfrm>
          <a:custGeom>
            <a:avLst/>
            <a:gdLst/>
            <a:ahLst/>
            <a:cxnLst/>
            <a:rect r="r" b="b" t="t" l="l"/>
            <a:pathLst>
              <a:path h="125270" w="151142">
                <a:moveTo>
                  <a:pt x="0" y="0"/>
                </a:moveTo>
                <a:lnTo>
                  <a:pt x="151142" y="0"/>
                </a:lnTo>
                <a:lnTo>
                  <a:pt x="151142" y="125270"/>
                </a:lnTo>
                <a:lnTo>
                  <a:pt x="0" y="12527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4017640" y="4059350"/>
            <a:ext cx="107570" cy="21786"/>
            <a:chOff x="0" y="0"/>
            <a:chExt cx="143427" cy="290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3383" cy="29083"/>
            </a:xfrm>
            <a:custGeom>
              <a:avLst/>
              <a:gdLst/>
              <a:ahLst/>
              <a:cxnLst/>
              <a:rect r="r" b="b" t="t" l="l"/>
              <a:pathLst>
                <a:path h="29083" w="143383">
                  <a:moveTo>
                    <a:pt x="143383" y="0"/>
                  </a:moveTo>
                  <a:cubicBezTo>
                    <a:pt x="0" y="29083"/>
                    <a:pt x="0" y="29083"/>
                    <a:pt x="0" y="29083"/>
                  </a:cubicBezTo>
                  <a:cubicBezTo>
                    <a:pt x="7112" y="21844"/>
                    <a:pt x="16764" y="17018"/>
                    <a:pt x="16764" y="17018"/>
                  </a:cubicBezTo>
                  <a:cubicBezTo>
                    <a:pt x="143383" y="0"/>
                    <a:pt x="143383" y="0"/>
                    <a:pt x="143383" y="0"/>
                  </a:cubicBezTo>
                </a:path>
              </a:pathLst>
            </a:custGeom>
            <a:solidFill>
              <a:srgbClr val="FF7B5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997216" y="4000798"/>
            <a:ext cx="126632" cy="21786"/>
            <a:chOff x="0" y="0"/>
            <a:chExt cx="168843" cy="290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8783" cy="29083"/>
            </a:xfrm>
            <a:custGeom>
              <a:avLst/>
              <a:gdLst/>
              <a:ahLst/>
              <a:cxnLst/>
              <a:rect r="r" b="b" t="t" l="l"/>
              <a:pathLst>
                <a:path h="29083" w="168783">
                  <a:moveTo>
                    <a:pt x="168783" y="0"/>
                  </a:moveTo>
                  <a:cubicBezTo>
                    <a:pt x="21463" y="29083"/>
                    <a:pt x="21463" y="29083"/>
                    <a:pt x="21463" y="29083"/>
                  </a:cubicBezTo>
                  <a:cubicBezTo>
                    <a:pt x="21463" y="29083"/>
                    <a:pt x="9525" y="26670"/>
                    <a:pt x="0" y="19304"/>
                  </a:cubicBezTo>
                  <a:cubicBezTo>
                    <a:pt x="168783" y="0"/>
                    <a:pt x="168783" y="0"/>
                    <a:pt x="168783" y="0"/>
                  </a:cubicBezTo>
                </a:path>
              </a:pathLst>
            </a:custGeom>
            <a:solidFill>
              <a:srgbClr val="FF7B5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009472" y="3949056"/>
            <a:ext cx="103484" cy="28594"/>
            <a:chOff x="0" y="0"/>
            <a:chExt cx="137979" cy="381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922" cy="38100"/>
            </a:xfrm>
            <a:custGeom>
              <a:avLst/>
              <a:gdLst/>
              <a:ahLst/>
              <a:cxnLst/>
              <a:rect r="r" b="b" t="t" l="l"/>
              <a:pathLst>
                <a:path h="38100" w="137922">
                  <a:moveTo>
                    <a:pt x="137922" y="0"/>
                  </a:moveTo>
                  <a:cubicBezTo>
                    <a:pt x="0" y="38100"/>
                    <a:pt x="0" y="38100"/>
                    <a:pt x="0" y="38100"/>
                  </a:cubicBezTo>
                  <a:cubicBezTo>
                    <a:pt x="0" y="35687"/>
                    <a:pt x="2413" y="26162"/>
                    <a:pt x="2413" y="23749"/>
                  </a:cubicBezTo>
                  <a:cubicBezTo>
                    <a:pt x="137922" y="0"/>
                    <a:pt x="137922" y="0"/>
                    <a:pt x="137922" y="0"/>
                  </a:cubicBezTo>
                </a:path>
              </a:pathLst>
            </a:custGeom>
            <a:solidFill>
              <a:srgbClr val="FF7B5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009472" y="3966758"/>
            <a:ext cx="1362" cy="10894"/>
            <a:chOff x="0" y="0"/>
            <a:chExt cx="1816" cy="1452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0" cy="0"/>
            </a:xfrm>
            <a:custGeom>
              <a:avLst/>
              <a:gdLst/>
              <a:ahLst/>
              <a:cxnLst/>
              <a:rect r="r" b="b" t="t" l="l"/>
              <a:pathLst>
                <a:path h="0" w="0"/>
              </a:pathLst>
            </a:custGeom>
            <a:solidFill>
              <a:srgbClr val="FF5C33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3167980" y="3919100"/>
            <a:ext cx="822428" cy="1021228"/>
          </a:xfrm>
          <a:custGeom>
            <a:avLst/>
            <a:gdLst/>
            <a:ahLst/>
            <a:cxnLst/>
            <a:rect r="r" b="b" t="t" l="l"/>
            <a:pathLst>
              <a:path h="1021228" w="822428">
                <a:moveTo>
                  <a:pt x="0" y="0"/>
                </a:moveTo>
                <a:lnTo>
                  <a:pt x="822428" y="0"/>
                </a:lnTo>
                <a:lnTo>
                  <a:pt x="822428" y="1021228"/>
                </a:lnTo>
                <a:lnTo>
                  <a:pt x="0" y="102122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3251038" y="4266318"/>
            <a:ext cx="132080" cy="580058"/>
            <a:chOff x="0" y="0"/>
            <a:chExt cx="176107" cy="7734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1380" cy="773430"/>
            </a:xfrm>
            <a:custGeom>
              <a:avLst/>
              <a:gdLst/>
              <a:ahLst/>
              <a:cxnLst/>
              <a:rect r="r" b="b" t="t" l="l"/>
              <a:pathLst>
                <a:path h="773430" w="161380">
                  <a:moveTo>
                    <a:pt x="76200" y="0"/>
                  </a:moveTo>
                  <a:cubicBezTo>
                    <a:pt x="76200" y="0"/>
                    <a:pt x="176149" y="157099"/>
                    <a:pt x="159512" y="211836"/>
                  </a:cubicBezTo>
                  <a:cubicBezTo>
                    <a:pt x="142748" y="264160"/>
                    <a:pt x="76200" y="356997"/>
                    <a:pt x="76200" y="356997"/>
                  </a:cubicBezTo>
                  <a:cubicBezTo>
                    <a:pt x="76200" y="773430"/>
                    <a:pt x="76200" y="773430"/>
                    <a:pt x="76200" y="773430"/>
                  </a:cubicBezTo>
                  <a:cubicBezTo>
                    <a:pt x="50038" y="732917"/>
                    <a:pt x="26162" y="687705"/>
                    <a:pt x="4699" y="640207"/>
                  </a:cubicBezTo>
                  <a:cubicBezTo>
                    <a:pt x="0" y="378333"/>
                    <a:pt x="0" y="378333"/>
                    <a:pt x="0" y="378333"/>
                  </a:cubicBezTo>
                  <a:cubicBezTo>
                    <a:pt x="2413" y="347345"/>
                    <a:pt x="97536" y="266446"/>
                    <a:pt x="114173" y="192659"/>
                  </a:cubicBezTo>
                  <a:cubicBezTo>
                    <a:pt x="121412" y="157099"/>
                    <a:pt x="99949" y="73787"/>
                    <a:pt x="76200" y="0"/>
                  </a:cubicBezTo>
                </a:path>
              </a:pathLst>
            </a:custGeom>
            <a:solidFill>
              <a:srgbClr val="334157">
                <a:alpha val="8235"/>
              </a:srgbClr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2457202" y="3826510"/>
            <a:ext cx="885066" cy="1180540"/>
          </a:xfrm>
          <a:custGeom>
            <a:avLst/>
            <a:gdLst/>
            <a:ahLst/>
            <a:cxnLst/>
            <a:rect r="r" b="b" t="t" l="l"/>
            <a:pathLst>
              <a:path h="1180540" w="885066">
                <a:moveTo>
                  <a:pt x="0" y="0"/>
                </a:moveTo>
                <a:lnTo>
                  <a:pt x="885066" y="0"/>
                </a:lnTo>
                <a:lnTo>
                  <a:pt x="885066" y="1180540"/>
                </a:lnTo>
                <a:lnTo>
                  <a:pt x="0" y="118054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770940" y="4887226"/>
            <a:ext cx="1644858" cy="2461842"/>
          </a:xfrm>
          <a:custGeom>
            <a:avLst/>
            <a:gdLst/>
            <a:ahLst/>
            <a:cxnLst/>
            <a:rect r="r" b="b" t="t" l="l"/>
            <a:pathLst>
              <a:path h="2461842" w="1644858">
                <a:moveTo>
                  <a:pt x="0" y="0"/>
                </a:moveTo>
                <a:lnTo>
                  <a:pt x="1644858" y="0"/>
                </a:lnTo>
                <a:lnTo>
                  <a:pt x="1644858" y="2461842"/>
                </a:lnTo>
                <a:lnTo>
                  <a:pt x="0" y="246184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2785360" y="3620902"/>
            <a:ext cx="250542" cy="479296"/>
            <a:chOff x="0" y="0"/>
            <a:chExt cx="334056" cy="6390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4010" cy="639064"/>
            </a:xfrm>
            <a:custGeom>
              <a:avLst/>
              <a:gdLst/>
              <a:ahLst/>
              <a:cxnLst/>
              <a:rect r="r" b="b" t="t" l="l"/>
              <a:pathLst>
                <a:path h="639064" w="334010">
                  <a:moveTo>
                    <a:pt x="334010" y="337312"/>
                  </a:moveTo>
                  <a:cubicBezTo>
                    <a:pt x="334010" y="377698"/>
                    <a:pt x="334010" y="553466"/>
                    <a:pt x="245745" y="639064"/>
                  </a:cubicBezTo>
                  <a:cubicBezTo>
                    <a:pt x="71628" y="560705"/>
                    <a:pt x="2413" y="292227"/>
                    <a:pt x="2413" y="292227"/>
                  </a:cubicBezTo>
                  <a:cubicBezTo>
                    <a:pt x="2413" y="280289"/>
                    <a:pt x="2413" y="280289"/>
                    <a:pt x="2413" y="280289"/>
                  </a:cubicBezTo>
                  <a:cubicBezTo>
                    <a:pt x="0" y="68834"/>
                    <a:pt x="0" y="68834"/>
                    <a:pt x="0" y="68834"/>
                  </a:cubicBezTo>
                  <a:cubicBezTo>
                    <a:pt x="2413" y="26162"/>
                    <a:pt x="298323" y="0"/>
                    <a:pt x="298323" y="0"/>
                  </a:cubicBezTo>
                  <a:cubicBezTo>
                    <a:pt x="334010" y="337312"/>
                    <a:pt x="334010" y="337312"/>
                    <a:pt x="334010" y="337312"/>
                  </a:cubicBezTo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785358" y="3679452"/>
            <a:ext cx="234202" cy="122548"/>
            <a:chOff x="0" y="0"/>
            <a:chExt cx="312269" cy="1633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2293" cy="163322"/>
            </a:xfrm>
            <a:custGeom>
              <a:avLst/>
              <a:gdLst/>
              <a:ahLst/>
              <a:cxnLst/>
              <a:rect r="r" b="b" t="t" l="l"/>
              <a:pathLst>
                <a:path h="163322" w="312293">
                  <a:moveTo>
                    <a:pt x="0" y="0"/>
                  </a:moveTo>
                  <a:cubicBezTo>
                    <a:pt x="73914" y="70993"/>
                    <a:pt x="190754" y="151511"/>
                    <a:pt x="286004" y="151511"/>
                  </a:cubicBezTo>
                  <a:cubicBezTo>
                    <a:pt x="295529" y="151511"/>
                    <a:pt x="302641" y="149098"/>
                    <a:pt x="309880" y="149098"/>
                  </a:cubicBezTo>
                  <a:cubicBezTo>
                    <a:pt x="312293" y="151511"/>
                    <a:pt x="312293" y="151511"/>
                    <a:pt x="312293" y="151511"/>
                  </a:cubicBezTo>
                  <a:cubicBezTo>
                    <a:pt x="312293" y="151511"/>
                    <a:pt x="278892" y="163322"/>
                    <a:pt x="228854" y="163322"/>
                  </a:cubicBezTo>
                  <a:cubicBezTo>
                    <a:pt x="166878" y="163322"/>
                    <a:pt x="78740" y="144399"/>
                    <a:pt x="0" y="5918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865D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2702298" y="3220580"/>
            <a:ext cx="480658" cy="589590"/>
          </a:xfrm>
          <a:custGeom>
            <a:avLst/>
            <a:gdLst/>
            <a:ahLst/>
            <a:cxnLst/>
            <a:rect r="r" b="b" t="t" l="l"/>
            <a:pathLst>
              <a:path h="589590" w="480658">
                <a:moveTo>
                  <a:pt x="0" y="0"/>
                </a:moveTo>
                <a:lnTo>
                  <a:pt x="480658" y="0"/>
                </a:lnTo>
                <a:lnTo>
                  <a:pt x="480658" y="589590"/>
                </a:lnTo>
                <a:lnTo>
                  <a:pt x="0" y="58959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2813952" y="3554182"/>
            <a:ext cx="87144" cy="43572"/>
            <a:chOff x="0" y="0"/>
            <a:chExt cx="116192" cy="58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6205" cy="58039"/>
            </a:xfrm>
            <a:custGeom>
              <a:avLst/>
              <a:gdLst/>
              <a:ahLst/>
              <a:cxnLst/>
              <a:rect r="r" b="b" t="t" l="l"/>
              <a:pathLst>
                <a:path h="58039" w="116205">
                  <a:moveTo>
                    <a:pt x="54483" y="0"/>
                  </a:moveTo>
                  <a:cubicBezTo>
                    <a:pt x="56896" y="0"/>
                    <a:pt x="59182" y="0"/>
                    <a:pt x="61595" y="0"/>
                  </a:cubicBezTo>
                  <a:cubicBezTo>
                    <a:pt x="92456" y="2413"/>
                    <a:pt x="116205" y="33909"/>
                    <a:pt x="116205" y="33909"/>
                  </a:cubicBezTo>
                  <a:cubicBezTo>
                    <a:pt x="116205" y="33909"/>
                    <a:pt x="90170" y="58039"/>
                    <a:pt x="61595" y="58039"/>
                  </a:cubicBezTo>
                  <a:cubicBezTo>
                    <a:pt x="59182" y="58039"/>
                    <a:pt x="56896" y="58039"/>
                    <a:pt x="56896" y="58039"/>
                  </a:cubicBezTo>
                  <a:cubicBezTo>
                    <a:pt x="23749" y="53213"/>
                    <a:pt x="0" y="24257"/>
                    <a:pt x="0" y="24257"/>
                  </a:cubicBezTo>
                  <a:cubicBezTo>
                    <a:pt x="0" y="24257"/>
                    <a:pt x="26035" y="0"/>
                    <a:pt x="54483" y="0"/>
                  </a:cubicBezTo>
                </a:path>
              </a:pathLst>
            </a:custGeom>
            <a:solidFill>
              <a:srgbClr val="FF7B5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151640" y="3520140"/>
            <a:ext cx="31318" cy="34040"/>
            <a:chOff x="0" y="0"/>
            <a:chExt cx="41757" cy="4538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783" cy="45339"/>
            </a:xfrm>
            <a:custGeom>
              <a:avLst/>
              <a:gdLst/>
              <a:ahLst/>
              <a:cxnLst/>
              <a:rect r="r" b="b" t="t" l="l"/>
              <a:pathLst>
                <a:path h="45339" w="41783">
                  <a:moveTo>
                    <a:pt x="37084" y="0"/>
                  </a:moveTo>
                  <a:cubicBezTo>
                    <a:pt x="39370" y="16764"/>
                    <a:pt x="39370" y="31115"/>
                    <a:pt x="41783" y="45339"/>
                  </a:cubicBezTo>
                  <a:cubicBezTo>
                    <a:pt x="39497" y="45339"/>
                    <a:pt x="37084" y="45339"/>
                    <a:pt x="34798" y="45339"/>
                  </a:cubicBezTo>
                  <a:cubicBezTo>
                    <a:pt x="16256" y="45339"/>
                    <a:pt x="0" y="35814"/>
                    <a:pt x="0" y="35814"/>
                  </a:cubicBezTo>
                  <a:cubicBezTo>
                    <a:pt x="0" y="35814"/>
                    <a:pt x="13970" y="9525"/>
                    <a:pt x="37084" y="0"/>
                  </a:cubicBezTo>
                </a:path>
              </a:pathLst>
            </a:custGeom>
            <a:solidFill>
              <a:srgbClr val="FF7B5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084918" y="3473846"/>
            <a:ext cx="50382" cy="89868"/>
            <a:chOff x="0" y="0"/>
            <a:chExt cx="67176" cy="119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043" y="0"/>
              <a:ext cx="65140" cy="117626"/>
            </a:xfrm>
            <a:custGeom>
              <a:avLst/>
              <a:gdLst/>
              <a:ahLst/>
              <a:cxnLst/>
              <a:rect r="r" b="b" t="t" l="l"/>
              <a:pathLst>
                <a:path h="117626" w="65140">
                  <a:moveTo>
                    <a:pt x="65140" y="0"/>
                  </a:moveTo>
                  <a:cubicBezTo>
                    <a:pt x="21960" y="4826"/>
                    <a:pt x="21960" y="4826"/>
                    <a:pt x="21960" y="4826"/>
                  </a:cubicBezTo>
                  <a:cubicBezTo>
                    <a:pt x="7609" y="7239"/>
                    <a:pt x="-2043" y="33528"/>
                    <a:pt x="370" y="64643"/>
                  </a:cubicBezTo>
                  <a:cubicBezTo>
                    <a:pt x="5196" y="95885"/>
                    <a:pt x="19547" y="119761"/>
                    <a:pt x="33898" y="117475"/>
                  </a:cubicBezTo>
                  <a:cubicBezTo>
                    <a:pt x="48249" y="115189"/>
                    <a:pt x="57901" y="88646"/>
                    <a:pt x="53075" y="57531"/>
                  </a:cubicBezTo>
                  <a:cubicBezTo>
                    <a:pt x="53075" y="45593"/>
                    <a:pt x="48249" y="33528"/>
                    <a:pt x="43423" y="24003"/>
                  </a:cubicBezTo>
                  <a:lnTo>
                    <a:pt x="65140" y="0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2875226" y="3362190"/>
            <a:ext cx="122548" cy="129356"/>
            <a:chOff x="0" y="0"/>
            <a:chExt cx="163397" cy="17247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71686"/>
              <a:ext cx="163449" cy="100780"/>
            </a:xfrm>
            <a:custGeom>
              <a:avLst/>
              <a:gdLst/>
              <a:ahLst/>
              <a:cxnLst/>
              <a:rect r="r" b="b" t="t" l="l"/>
              <a:pathLst>
                <a:path h="100780" w="163449">
                  <a:moveTo>
                    <a:pt x="163449" y="34613"/>
                  </a:moveTo>
                  <a:cubicBezTo>
                    <a:pt x="163449" y="34613"/>
                    <a:pt x="66421" y="1593"/>
                    <a:pt x="0" y="100780"/>
                  </a:cubicBezTo>
                  <a:cubicBezTo>
                    <a:pt x="0" y="100780"/>
                    <a:pt x="63881" y="-71686"/>
                    <a:pt x="163449" y="34613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3072664" y="3368998"/>
            <a:ext cx="98038" cy="96676"/>
            <a:chOff x="0" y="0"/>
            <a:chExt cx="130717" cy="12890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58356"/>
              <a:ext cx="130683" cy="70549"/>
            </a:xfrm>
            <a:custGeom>
              <a:avLst/>
              <a:gdLst/>
              <a:ahLst/>
              <a:cxnLst/>
              <a:rect r="r" b="b" t="t" l="l"/>
              <a:pathLst>
                <a:path h="70549" w="130683">
                  <a:moveTo>
                    <a:pt x="0" y="32322"/>
                  </a:moveTo>
                  <a:cubicBezTo>
                    <a:pt x="0" y="32322"/>
                    <a:pt x="76073" y="1334"/>
                    <a:pt x="130683" y="70549"/>
                  </a:cubicBezTo>
                  <a:cubicBezTo>
                    <a:pt x="130683" y="70549"/>
                    <a:pt x="68961" y="-58356"/>
                    <a:pt x="0" y="32322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928330" y="3616816"/>
            <a:ext cx="174290" cy="51742"/>
            <a:chOff x="0" y="0"/>
            <a:chExt cx="232387" cy="6898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603"/>
              <a:ext cx="231807" cy="64346"/>
            </a:xfrm>
            <a:custGeom>
              <a:avLst/>
              <a:gdLst/>
              <a:ahLst/>
              <a:cxnLst/>
              <a:rect r="r" b="b" t="t" l="l"/>
              <a:pathLst>
                <a:path h="64346" w="231807">
                  <a:moveTo>
                    <a:pt x="158877" y="58833"/>
                  </a:moveTo>
                  <a:cubicBezTo>
                    <a:pt x="149352" y="61246"/>
                    <a:pt x="139954" y="63532"/>
                    <a:pt x="130429" y="63532"/>
                  </a:cubicBezTo>
                  <a:cubicBezTo>
                    <a:pt x="87757" y="68358"/>
                    <a:pt x="45085" y="51721"/>
                    <a:pt x="2413" y="13621"/>
                  </a:cubicBezTo>
                  <a:cubicBezTo>
                    <a:pt x="0" y="13621"/>
                    <a:pt x="0" y="8922"/>
                    <a:pt x="0" y="8922"/>
                  </a:cubicBezTo>
                  <a:cubicBezTo>
                    <a:pt x="2413" y="6509"/>
                    <a:pt x="4699" y="6509"/>
                    <a:pt x="7112" y="6509"/>
                  </a:cubicBezTo>
                  <a:cubicBezTo>
                    <a:pt x="47371" y="42196"/>
                    <a:pt x="87757" y="58833"/>
                    <a:pt x="128016" y="54134"/>
                  </a:cubicBezTo>
                  <a:cubicBezTo>
                    <a:pt x="187325" y="49308"/>
                    <a:pt x="222885" y="4096"/>
                    <a:pt x="222885" y="1810"/>
                  </a:cubicBezTo>
                  <a:cubicBezTo>
                    <a:pt x="225298" y="-603"/>
                    <a:pt x="227584" y="-603"/>
                    <a:pt x="229997" y="1810"/>
                  </a:cubicBezTo>
                  <a:cubicBezTo>
                    <a:pt x="232410" y="4223"/>
                    <a:pt x="232410" y="6509"/>
                    <a:pt x="229997" y="8922"/>
                  </a:cubicBezTo>
                  <a:cubicBezTo>
                    <a:pt x="229997" y="8922"/>
                    <a:pt x="203962" y="44609"/>
                    <a:pt x="158877" y="58833"/>
                  </a:cubicBezTo>
                  <a:close/>
                </a:path>
              </a:pathLst>
            </a:custGeom>
            <a:solidFill>
              <a:srgbClr val="FFA47D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604260" y="3442528"/>
            <a:ext cx="132080" cy="258712"/>
            <a:chOff x="0" y="0"/>
            <a:chExt cx="176107" cy="3449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33145" y="6741"/>
              <a:ext cx="143004" cy="231163"/>
            </a:xfrm>
            <a:custGeom>
              <a:avLst/>
              <a:gdLst/>
              <a:ahLst/>
              <a:cxnLst/>
              <a:rect r="r" b="b" t="t" l="l"/>
              <a:pathLst>
                <a:path h="231163" w="143004">
                  <a:moveTo>
                    <a:pt x="133479" y="90795"/>
                  </a:moveTo>
                  <a:cubicBezTo>
                    <a:pt x="133479" y="90795"/>
                    <a:pt x="92966" y="-6741"/>
                    <a:pt x="28704" y="371"/>
                  </a:cubicBezTo>
                  <a:cubicBezTo>
                    <a:pt x="-33145" y="7483"/>
                    <a:pt x="4955" y="338191"/>
                    <a:pt x="143004" y="195443"/>
                  </a:cubicBezTo>
                  <a:lnTo>
                    <a:pt x="133479" y="90795"/>
                  </a:lnTo>
                  <a:close/>
                </a:path>
              </a:pathLst>
            </a:custGeom>
            <a:solidFill>
              <a:srgbClr val="FFA47D"/>
            </a:solidFill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2656002" y="3502440"/>
            <a:ext cx="66720" cy="54466"/>
          </a:xfrm>
          <a:custGeom>
            <a:avLst/>
            <a:gdLst/>
            <a:ahLst/>
            <a:cxnLst/>
            <a:rect r="r" b="b" t="t" l="l"/>
            <a:pathLst>
              <a:path h="54466" w="66720">
                <a:moveTo>
                  <a:pt x="0" y="0"/>
                </a:moveTo>
                <a:lnTo>
                  <a:pt x="66720" y="0"/>
                </a:lnTo>
                <a:lnTo>
                  <a:pt x="66720" y="54466"/>
                </a:lnTo>
                <a:lnTo>
                  <a:pt x="0" y="5446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2612430" y="3093948"/>
            <a:ext cx="614100" cy="389428"/>
            <a:chOff x="0" y="0"/>
            <a:chExt cx="818800" cy="51923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54211"/>
              <a:ext cx="818769" cy="464965"/>
            </a:xfrm>
            <a:custGeom>
              <a:avLst/>
              <a:gdLst/>
              <a:ahLst/>
              <a:cxnLst/>
              <a:rect r="r" b="b" t="t" l="l"/>
              <a:pathLst>
                <a:path h="464965" w="818769">
                  <a:moveTo>
                    <a:pt x="728345" y="362603"/>
                  </a:moveTo>
                  <a:cubicBezTo>
                    <a:pt x="728345" y="362603"/>
                    <a:pt x="597408" y="326916"/>
                    <a:pt x="542671" y="205377"/>
                  </a:cubicBezTo>
                  <a:cubicBezTo>
                    <a:pt x="542671" y="205377"/>
                    <a:pt x="430784" y="450741"/>
                    <a:pt x="128524" y="464965"/>
                  </a:cubicBezTo>
                  <a:cubicBezTo>
                    <a:pt x="128524" y="464965"/>
                    <a:pt x="121412" y="336314"/>
                    <a:pt x="0" y="362603"/>
                  </a:cubicBezTo>
                  <a:cubicBezTo>
                    <a:pt x="0" y="362603"/>
                    <a:pt x="9525" y="153053"/>
                    <a:pt x="152273" y="50564"/>
                  </a:cubicBezTo>
                  <a:cubicBezTo>
                    <a:pt x="297561" y="-54211"/>
                    <a:pt x="492760" y="36340"/>
                    <a:pt x="492760" y="36340"/>
                  </a:cubicBezTo>
                  <a:cubicBezTo>
                    <a:pt x="492760" y="36340"/>
                    <a:pt x="533273" y="-11285"/>
                    <a:pt x="640334" y="29228"/>
                  </a:cubicBezTo>
                  <a:cubicBezTo>
                    <a:pt x="747395" y="69741"/>
                    <a:pt x="818769" y="367429"/>
                    <a:pt x="818769" y="367429"/>
                  </a:cubicBezTo>
                  <a:cubicBezTo>
                    <a:pt x="818769" y="367429"/>
                    <a:pt x="761619" y="374541"/>
                    <a:pt x="728345" y="362603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2323762" y="4598558"/>
            <a:ext cx="78976" cy="422108"/>
            <a:chOff x="0" y="0"/>
            <a:chExt cx="105301" cy="56281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5283" cy="562737"/>
            </a:xfrm>
            <a:custGeom>
              <a:avLst/>
              <a:gdLst/>
              <a:ahLst/>
              <a:cxnLst/>
              <a:rect r="r" b="b" t="t" l="l"/>
              <a:pathLst>
                <a:path h="562737" w="105283">
                  <a:moveTo>
                    <a:pt x="105283" y="282575"/>
                  </a:moveTo>
                  <a:cubicBezTo>
                    <a:pt x="105283" y="436880"/>
                    <a:pt x="66929" y="562737"/>
                    <a:pt x="66929" y="562737"/>
                  </a:cubicBezTo>
                  <a:cubicBezTo>
                    <a:pt x="66929" y="562737"/>
                    <a:pt x="0" y="437007"/>
                    <a:pt x="0" y="282575"/>
                  </a:cubicBezTo>
                  <a:cubicBezTo>
                    <a:pt x="0" y="125857"/>
                    <a:pt x="52705" y="0"/>
                    <a:pt x="52705" y="0"/>
                  </a:cubicBezTo>
                  <a:cubicBezTo>
                    <a:pt x="52705" y="0"/>
                    <a:pt x="105283" y="125857"/>
                    <a:pt x="105283" y="282575"/>
                  </a:cubicBezTo>
                  <a:close/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404100" y="4267680"/>
            <a:ext cx="645418" cy="894596"/>
            <a:chOff x="0" y="0"/>
            <a:chExt cx="860557" cy="119279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227" y="0"/>
              <a:ext cx="856098" cy="1192784"/>
            </a:xfrm>
            <a:custGeom>
              <a:avLst/>
              <a:gdLst/>
              <a:ahLst/>
              <a:cxnLst/>
              <a:rect r="r" b="b" t="t" l="l"/>
              <a:pathLst>
                <a:path h="1192784" w="856098">
                  <a:moveTo>
                    <a:pt x="813113" y="59563"/>
                  </a:moveTo>
                  <a:cubicBezTo>
                    <a:pt x="116645" y="0"/>
                    <a:pt x="116645" y="0"/>
                    <a:pt x="116645" y="0"/>
                  </a:cubicBezTo>
                  <a:cubicBezTo>
                    <a:pt x="100008" y="2413"/>
                    <a:pt x="85784" y="16637"/>
                    <a:pt x="83371" y="35687"/>
                  </a:cubicBezTo>
                  <a:cubicBezTo>
                    <a:pt x="186" y="1092835"/>
                    <a:pt x="186" y="1092835"/>
                    <a:pt x="186" y="1092835"/>
                  </a:cubicBezTo>
                  <a:cubicBezTo>
                    <a:pt x="-2227" y="1116584"/>
                    <a:pt x="19236" y="1135634"/>
                    <a:pt x="42985" y="1133348"/>
                  </a:cubicBezTo>
                  <a:cubicBezTo>
                    <a:pt x="739453" y="1192784"/>
                    <a:pt x="739453" y="1192784"/>
                    <a:pt x="739453" y="1192784"/>
                  </a:cubicBezTo>
                  <a:cubicBezTo>
                    <a:pt x="758503" y="1190371"/>
                    <a:pt x="772727" y="1176147"/>
                    <a:pt x="772727" y="1157097"/>
                  </a:cubicBezTo>
                  <a:cubicBezTo>
                    <a:pt x="855912" y="102362"/>
                    <a:pt x="855912" y="102362"/>
                    <a:pt x="855912" y="102362"/>
                  </a:cubicBezTo>
                  <a:cubicBezTo>
                    <a:pt x="858325" y="78613"/>
                    <a:pt x="836862" y="57150"/>
                    <a:pt x="813113" y="59563"/>
                  </a:cubicBezTo>
                </a:path>
              </a:pathLst>
            </a:custGeom>
            <a:solidFill>
              <a:srgbClr val="33415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656076" y="4501882"/>
            <a:ext cx="141538" cy="144388"/>
            <a:chOff x="0" y="0"/>
            <a:chExt cx="188717" cy="19251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8722" cy="192532"/>
            </a:xfrm>
            <a:custGeom>
              <a:avLst/>
              <a:gdLst/>
              <a:ahLst/>
              <a:cxnLst/>
              <a:rect r="r" b="b" t="t" l="l"/>
              <a:pathLst>
                <a:path h="192532" w="188722">
                  <a:moveTo>
                    <a:pt x="188722" y="96266"/>
                  </a:moveTo>
                  <a:cubicBezTo>
                    <a:pt x="188722" y="43053"/>
                    <a:pt x="146431" y="0"/>
                    <a:pt x="94361" y="0"/>
                  </a:cubicBezTo>
                  <a:cubicBezTo>
                    <a:pt x="42291" y="0"/>
                    <a:pt x="0" y="43053"/>
                    <a:pt x="0" y="96266"/>
                  </a:cubicBezTo>
                  <a:cubicBezTo>
                    <a:pt x="0" y="149479"/>
                    <a:pt x="42291" y="192532"/>
                    <a:pt x="94361" y="192532"/>
                  </a:cubicBezTo>
                  <a:cubicBezTo>
                    <a:pt x="146431" y="192532"/>
                    <a:pt x="188722" y="149479"/>
                    <a:pt x="188722" y="96266"/>
                  </a:cubicBezTo>
                  <a:close/>
                </a:path>
              </a:pathLst>
            </a:custGeom>
            <a:solidFill>
              <a:srgbClr val="CBDDFA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2307422" y="4488266"/>
            <a:ext cx="343134" cy="409852"/>
          </a:xfrm>
          <a:custGeom>
            <a:avLst/>
            <a:gdLst/>
            <a:ahLst/>
            <a:cxnLst/>
            <a:rect r="r" b="b" t="t" l="l"/>
            <a:pathLst>
              <a:path h="409852" w="343134">
                <a:moveTo>
                  <a:pt x="0" y="0"/>
                </a:moveTo>
                <a:lnTo>
                  <a:pt x="343134" y="0"/>
                </a:lnTo>
                <a:lnTo>
                  <a:pt x="343134" y="409852"/>
                </a:lnTo>
                <a:lnTo>
                  <a:pt x="0" y="409852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2929692" y="3473846"/>
            <a:ext cx="54466" cy="95314"/>
            <a:chOff x="0" y="0"/>
            <a:chExt cx="72621" cy="12708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3584" y="0"/>
              <a:ext cx="69060" cy="124867"/>
            </a:xfrm>
            <a:custGeom>
              <a:avLst/>
              <a:gdLst/>
              <a:ahLst/>
              <a:cxnLst/>
              <a:rect r="r" b="b" t="t" l="l"/>
              <a:pathLst>
                <a:path h="124867" w="69060">
                  <a:moveTo>
                    <a:pt x="69060" y="0"/>
                  </a:moveTo>
                  <a:cubicBezTo>
                    <a:pt x="23086" y="4826"/>
                    <a:pt x="23086" y="4826"/>
                    <a:pt x="23086" y="4826"/>
                  </a:cubicBezTo>
                  <a:cubicBezTo>
                    <a:pt x="6068" y="7239"/>
                    <a:pt x="-3584" y="35941"/>
                    <a:pt x="1242" y="67183"/>
                  </a:cubicBezTo>
                  <a:cubicBezTo>
                    <a:pt x="3655" y="100711"/>
                    <a:pt x="20673" y="127127"/>
                    <a:pt x="35151" y="124714"/>
                  </a:cubicBezTo>
                  <a:cubicBezTo>
                    <a:pt x="49629" y="122301"/>
                    <a:pt x="59408" y="95885"/>
                    <a:pt x="56995" y="62357"/>
                  </a:cubicBezTo>
                  <a:cubicBezTo>
                    <a:pt x="54455" y="48006"/>
                    <a:pt x="52042" y="35941"/>
                    <a:pt x="47216" y="26416"/>
                  </a:cubicBezTo>
                  <a:lnTo>
                    <a:pt x="69060" y="0"/>
                  </a:lnTo>
                  <a:close/>
                </a:path>
              </a:pathLst>
            </a:custGeom>
            <a:solidFill>
              <a:srgbClr val="334157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3761896" y="5009338"/>
            <a:ext cx="1918452" cy="1350626"/>
          </a:xfrm>
          <a:custGeom>
            <a:avLst/>
            <a:gdLst/>
            <a:ahLst/>
            <a:cxnLst/>
            <a:rect r="r" b="b" t="t" l="l"/>
            <a:pathLst>
              <a:path h="1350626" w="1918452">
                <a:moveTo>
                  <a:pt x="0" y="0"/>
                </a:moveTo>
                <a:lnTo>
                  <a:pt x="1918452" y="0"/>
                </a:lnTo>
                <a:lnTo>
                  <a:pt x="1918452" y="1350626"/>
                </a:lnTo>
                <a:lnTo>
                  <a:pt x="0" y="1350626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60341" y="-6052207"/>
            <a:ext cx="25108517" cy="21605256"/>
          </a:xfrm>
          <a:custGeom>
            <a:avLst/>
            <a:gdLst/>
            <a:ahLst/>
            <a:cxnLst/>
            <a:rect r="r" b="b" t="t" l="l"/>
            <a:pathLst>
              <a:path h="21605256" w="25108517">
                <a:moveTo>
                  <a:pt x="0" y="0"/>
                </a:moveTo>
                <a:lnTo>
                  <a:pt x="25108517" y="0"/>
                </a:lnTo>
                <a:lnTo>
                  <a:pt x="25108517" y="21605256"/>
                </a:lnTo>
                <a:lnTo>
                  <a:pt x="0" y="2160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059" y="2200542"/>
            <a:ext cx="87133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334157"/>
                </a:solidFill>
                <a:latin typeface="Poppins"/>
                <a:ea typeface="Poppins"/>
                <a:cs typeface="Poppins"/>
                <a:sym typeface="Poppins"/>
              </a:rPr>
              <a:t>Thanks!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779455"/>
            <a:ext cx="8713350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Do you have any questions?</a:t>
            </a:r>
          </a:p>
          <a:p>
            <a:pPr algn="l">
              <a:lnSpc>
                <a:spcPts val="386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969770" y="1905912"/>
            <a:ext cx="6921338" cy="7358718"/>
          </a:xfrm>
          <a:custGeom>
            <a:avLst/>
            <a:gdLst/>
            <a:ahLst/>
            <a:cxnLst/>
            <a:rect r="r" b="b" t="t" l="l"/>
            <a:pathLst>
              <a:path h="7358718" w="6921338">
                <a:moveTo>
                  <a:pt x="0" y="0"/>
                </a:moveTo>
                <a:lnTo>
                  <a:pt x="6921338" y="0"/>
                </a:lnTo>
                <a:lnTo>
                  <a:pt x="6921338" y="7358718"/>
                </a:lnTo>
                <a:lnTo>
                  <a:pt x="0" y="735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DAG5RFhxUEY</dc:identifier>
  <dcterms:modified xsi:type="dcterms:W3CDTF">2011-08-01T06:04:30Z</dcterms:modified>
  <cp:revision>1</cp:revision>
  <dc:title>Copy of Statistics and Data Analysis - 6th Grade by Slidesgo.pptx</dc:title>
</cp:coreProperties>
</file>